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Prachason Neue Mon Bold" charset="1" panose="00000000000000000000"/>
      <p:regular r:id="rId26"/>
    </p:embeddedFont>
    <p:embeddedFont>
      <p:font typeface="Prachason Neue Mon" charset="1" panose="00000000000000000000"/>
      <p:regular r:id="rId27"/>
    </p:embeddedFont>
    <p:embeddedFont>
      <p:font typeface="Muli Bold" charset="1" panose="000008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8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322692" y="5459112"/>
            <a:ext cx="6400206" cy="5027071"/>
          </a:xfrm>
          <a:custGeom>
            <a:avLst/>
            <a:gdLst/>
            <a:ahLst/>
            <a:cxnLst/>
            <a:rect r="r" b="b" t="t" l="l"/>
            <a:pathLst>
              <a:path h="5027071" w="6400206">
                <a:moveTo>
                  <a:pt x="0" y="0"/>
                </a:moveTo>
                <a:lnTo>
                  <a:pt x="6400206" y="0"/>
                </a:lnTo>
                <a:lnTo>
                  <a:pt x="6400206" y="5027071"/>
                </a:lnTo>
                <a:lnTo>
                  <a:pt x="0" y="5027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0">
            <a:off x="-434898" y="-199183"/>
            <a:ext cx="6400206" cy="5027071"/>
          </a:xfrm>
          <a:custGeom>
            <a:avLst/>
            <a:gdLst/>
            <a:ahLst/>
            <a:cxnLst/>
            <a:rect r="r" b="b" t="t" l="l"/>
            <a:pathLst>
              <a:path h="5027071" w="6400206">
                <a:moveTo>
                  <a:pt x="6400206" y="5027071"/>
                </a:moveTo>
                <a:lnTo>
                  <a:pt x="0" y="5027071"/>
                </a:lnTo>
                <a:lnTo>
                  <a:pt x="0" y="0"/>
                </a:lnTo>
                <a:lnTo>
                  <a:pt x="6400206" y="0"/>
                </a:lnTo>
                <a:lnTo>
                  <a:pt x="6400206" y="5027071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700000">
            <a:off x="11543453" y="-479288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-2700000">
            <a:off x="-1599523" y="41008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8344070" y="10979040"/>
                </a:moveTo>
                <a:lnTo>
                  <a:pt x="0" y="10979040"/>
                </a:lnTo>
                <a:lnTo>
                  <a:pt x="0" y="0"/>
                </a:lnTo>
                <a:lnTo>
                  <a:pt x="8344070" y="0"/>
                </a:lnTo>
                <a:lnTo>
                  <a:pt x="8344070" y="1097904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1381747">
            <a:off x="10901233" y="-5032500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0" y="0"/>
                </a:moveTo>
                <a:lnTo>
                  <a:pt x="10013894" y="0"/>
                </a:lnTo>
                <a:lnTo>
                  <a:pt x="1001389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1381747">
            <a:off x="-2627127" y="7089900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10013894" y="0"/>
                </a:lnTo>
                <a:lnTo>
                  <a:pt x="10013894" y="822960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6705178" y="5764164"/>
            <a:ext cx="4877644" cy="760749"/>
            <a:chOff x="0" y="0"/>
            <a:chExt cx="1003631" cy="1565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03631" cy="156533"/>
            </a:xfrm>
            <a:custGeom>
              <a:avLst/>
              <a:gdLst/>
              <a:ahLst/>
              <a:cxnLst/>
              <a:rect r="r" b="b" t="t" l="l"/>
              <a:pathLst>
                <a:path h="156533" w="1003631">
                  <a:moveTo>
                    <a:pt x="52081" y="0"/>
                  </a:moveTo>
                  <a:lnTo>
                    <a:pt x="951550" y="0"/>
                  </a:lnTo>
                  <a:cubicBezTo>
                    <a:pt x="980313" y="0"/>
                    <a:pt x="1003631" y="23317"/>
                    <a:pt x="1003631" y="52081"/>
                  </a:cubicBezTo>
                  <a:lnTo>
                    <a:pt x="1003631" y="104452"/>
                  </a:lnTo>
                  <a:cubicBezTo>
                    <a:pt x="1003631" y="118264"/>
                    <a:pt x="998143" y="131511"/>
                    <a:pt x="988376" y="141279"/>
                  </a:cubicBezTo>
                  <a:cubicBezTo>
                    <a:pt x="978609" y="151046"/>
                    <a:pt x="965362" y="156533"/>
                    <a:pt x="951550" y="156533"/>
                  </a:cubicBezTo>
                  <a:lnTo>
                    <a:pt x="52081" y="156533"/>
                  </a:lnTo>
                  <a:cubicBezTo>
                    <a:pt x="38268" y="156533"/>
                    <a:pt x="25021" y="151046"/>
                    <a:pt x="15254" y="141279"/>
                  </a:cubicBezTo>
                  <a:cubicBezTo>
                    <a:pt x="5487" y="131511"/>
                    <a:pt x="0" y="118264"/>
                    <a:pt x="0" y="104452"/>
                  </a:cubicBezTo>
                  <a:lnTo>
                    <a:pt x="0" y="52081"/>
                  </a:lnTo>
                  <a:cubicBezTo>
                    <a:pt x="0" y="38268"/>
                    <a:pt x="5487" y="25021"/>
                    <a:pt x="15254" y="15254"/>
                  </a:cubicBezTo>
                  <a:cubicBezTo>
                    <a:pt x="25021" y="5487"/>
                    <a:pt x="38268" y="0"/>
                    <a:pt x="5208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003631" cy="1946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2158097" y="2638560"/>
            <a:ext cx="13971805" cy="28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500"/>
              </a:lnSpc>
            </a:pPr>
            <a:r>
              <a:rPr lang="en-US" b="true" sz="12500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DESTRAVA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05178" y="5630506"/>
            <a:ext cx="4877644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Banco de Dados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57203" y="-4319245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2700000">
            <a:off x="11543453" y="-479288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1381747">
            <a:off x="10901233" y="-5032500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0" y="0"/>
                </a:moveTo>
                <a:lnTo>
                  <a:pt x="10013894" y="0"/>
                </a:lnTo>
                <a:lnTo>
                  <a:pt x="1001389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188788" y="1222438"/>
            <a:ext cx="7389897" cy="1748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59"/>
              </a:lnSpc>
            </a:pPr>
            <a:r>
              <a:rPr lang="en-US" b="true" sz="8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INTRODUÇÃO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587624" y="2957704"/>
            <a:ext cx="9887790" cy="5571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  O Destrava é uma plataforma educacional voltado ao ensino de informática básica e inclusão digital, levando em consideração  a dificuldade e idade de cada aluno.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  O banco de dados será responsável por organizar e armazenar as informações do sistema, gerenciando atributos como o cadastro dos alunos e administradores</a:t>
            </a:r>
          </a:p>
        </p:txBody>
      </p:sp>
      <p:sp>
        <p:nvSpPr>
          <p:cNvPr name="Freeform 10" id="10"/>
          <p:cNvSpPr/>
          <p:nvPr/>
        </p:nvSpPr>
        <p:spPr>
          <a:xfrm flipH="true" flipV="false" rot="0">
            <a:off x="14350356" y="-665635"/>
            <a:ext cx="4372543" cy="2345273"/>
          </a:xfrm>
          <a:custGeom>
            <a:avLst/>
            <a:gdLst/>
            <a:ahLst/>
            <a:cxnLst/>
            <a:rect r="r" b="b" t="t" l="l"/>
            <a:pathLst>
              <a:path h="2345273" w="4372543">
                <a:moveTo>
                  <a:pt x="4372542" y="0"/>
                </a:moveTo>
                <a:lnTo>
                  <a:pt x="0" y="0"/>
                </a:lnTo>
                <a:lnTo>
                  <a:pt x="0" y="2345273"/>
                </a:lnTo>
                <a:lnTo>
                  <a:pt x="4372542" y="2345273"/>
                </a:lnTo>
                <a:lnTo>
                  <a:pt x="4372542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-1567806" y="-665635"/>
            <a:ext cx="7449642" cy="11188758"/>
            <a:chOff x="0" y="0"/>
            <a:chExt cx="9932856" cy="14918344"/>
          </a:xfrm>
        </p:grpSpPr>
        <p:sp>
          <p:nvSpPr>
            <p:cNvPr name="Freeform 12" id="12"/>
            <p:cNvSpPr/>
            <p:nvPr/>
          </p:nvSpPr>
          <p:spPr>
            <a:xfrm flipH="true" flipV="false" rot="5400000">
              <a:off x="-1356571" y="1356571"/>
              <a:ext cx="12645997" cy="9932856"/>
            </a:xfrm>
            <a:custGeom>
              <a:avLst/>
              <a:gdLst/>
              <a:ahLst/>
              <a:cxnLst/>
              <a:rect r="r" b="b" t="t" l="l"/>
              <a:pathLst>
                <a:path h="9932856" w="12645997">
                  <a:moveTo>
                    <a:pt x="12645997" y="0"/>
                  </a:moveTo>
                  <a:lnTo>
                    <a:pt x="0" y="0"/>
                  </a:lnTo>
                  <a:lnTo>
                    <a:pt x="0" y="9932855"/>
                  </a:lnTo>
                  <a:lnTo>
                    <a:pt x="12645997" y="9932855"/>
                  </a:lnTo>
                  <a:lnTo>
                    <a:pt x="12645997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5400000">
              <a:off x="-1356571" y="3628918"/>
              <a:ext cx="12645997" cy="9932856"/>
            </a:xfrm>
            <a:custGeom>
              <a:avLst/>
              <a:gdLst/>
              <a:ahLst/>
              <a:cxnLst/>
              <a:rect r="r" b="b" t="t" l="l"/>
              <a:pathLst>
                <a:path h="9932856" w="12645997">
                  <a:moveTo>
                    <a:pt x="0" y="0"/>
                  </a:moveTo>
                  <a:lnTo>
                    <a:pt x="12645997" y="0"/>
                  </a:lnTo>
                  <a:lnTo>
                    <a:pt x="12645997" y="9932856"/>
                  </a:lnTo>
                  <a:lnTo>
                    <a:pt x="0" y="9932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1724279" y="6692966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7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7" y="4071927"/>
                </a:lnTo>
                <a:lnTo>
                  <a:pt x="5184167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599026" y="-500030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7" y="4071927"/>
                </a:lnTo>
                <a:lnTo>
                  <a:pt x="5184167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33741" y="851685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REQUISITOS FUNCIONAIS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658497" y="3986728"/>
            <a:ext cx="12321660" cy="1156772"/>
            <a:chOff x="0" y="0"/>
            <a:chExt cx="2862808" cy="2687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862808" cy="268764"/>
            </a:xfrm>
            <a:custGeom>
              <a:avLst/>
              <a:gdLst/>
              <a:ahLst/>
              <a:cxnLst/>
              <a:rect r="r" b="b" t="t" l="l"/>
              <a:pathLst>
                <a:path h="268764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219677"/>
                  </a:lnTo>
                  <a:cubicBezTo>
                    <a:pt x="2862808" y="246787"/>
                    <a:pt x="2840831" y="268764"/>
                    <a:pt x="2813721" y="268764"/>
                  </a:cubicBezTo>
                  <a:lnTo>
                    <a:pt x="49087" y="268764"/>
                  </a:lnTo>
                  <a:cubicBezTo>
                    <a:pt x="36069" y="268764"/>
                    <a:pt x="23583" y="263592"/>
                    <a:pt x="14377" y="254387"/>
                  </a:cubicBezTo>
                  <a:cubicBezTo>
                    <a:pt x="5172" y="245181"/>
                    <a:pt x="0" y="232695"/>
                    <a:pt x="0" y="219677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862808" cy="306864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658497" y="5333564"/>
            <a:ext cx="12321660" cy="840836"/>
            <a:chOff x="0" y="0"/>
            <a:chExt cx="2862808" cy="19535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62808" cy="195359"/>
            </a:xfrm>
            <a:custGeom>
              <a:avLst/>
              <a:gdLst/>
              <a:ahLst/>
              <a:cxnLst/>
              <a:rect r="r" b="b" t="t" l="l"/>
              <a:pathLst>
                <a:path h="195359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146272"/>
                  </a:lnTo>
                  <a:cubicBezTo>
                    <a:pt x="2862808" y="159291"/>
                    <a:pt x="2857637" y="171776"/>
                    <a:pt x="2848431" y="180982"/>
                  </a:cubicBezTo>
                  <a:cubicBezTo>
                    <a:pt x="2839225" y="190188"/>
                    <a:pt x="2826740" y="195359"/>
                    <a:pt x="2813721" y="195359"/>
                  </a:cubicBezTo>
                  <a:lnTo>
                    <a:pt x="49087" y="195359"/>
                  </a:lnTo>
                  <a:cubicBezTo>
                    <a:pt x="21977" y="195359"/>
                    <a:pt x="0" y="173382"/>
                    <a:pt x="0" y="146272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862808" cy="233459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658497" y="6624681"/>
            <a:ext cx="12321660" cy="840836"/>
            <a:chOff x="0" y="0"/>
            <a:chExt cx="2862808" cy="19535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862808" cy="195359"/>
            </a:xfrm>
            <a:custGeom>
              <a:avLst/>
              <a:gdLst/>
              <a:ahLst/>
              <a:cxnLst/>
              <a:rect r="r" b="b" t="t" l="l"/>
              <a:pathLst>
                <a:path h="195359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146272"/>
                  </a:lnTo>
                  <a:cubicBezTo>
                    <a:pt x="2862808" y="159291"/>
                    <a:pt x="2857637" y="171776"/>
                    <a:pt x="2848431" y="180982"/>
                  </a:cubicBezTo>
                  <a:cubicBezTo>
                    <a:pt x="2839225" y="190188"/>
                    <a:pt x="2826740" y="195359"/>
                    <a:pt x="2813721" y="195359"/>
                  </a:cubicBezTo>
                  <a:lnTo>
                    <a:pt x="49087" y="195359"/>
                  </a:lnTo>
                  <a:cubicBezTo>
                    <a:pt x="21977" y="195359"/>
                    <a:pt x="0" y="173382"/>
                    <a:pt x="0" y="146272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2862808" cy="233459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658497" y="7943401"/>
            <a:ext cx="12339739" cy="1326260"/>
            <a:chOff x="0" y="0"/>
            <a:chExt cx="2867009" cy="30814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867009" cy="308143"/>
            </a:xfrm>
            <a:custGeom>
              <a:avLst/>
              <a:gdLst/>
              <a:ahLst/>
              <a:cxnLst/>
              <a:rect r="r" b="b" t="t" l="l"/>
              <a:pathLst>
                <a:path h="308143" w="2867009">
                  <a:moveTo>
                    <a:pt x="49015" y="0"/>
                  </a:moveTo>
                  <a:lnTo>
                    <a:pt x="2817993" y="0"/>
                  </a:lnTo>
                  <a:cubicBezTo>
                    <a:pt x="2845064" y="0"/>
                    <a:pt x="2867009" y="21945"/>
                    <a:pt x="2867009" y="49015"/>
                  </a:cubicBezTo>
                  <a:lnTo>
                    <a:pt x="2867009" y="259127"/>
                  </a:lnTo>
                  <a:cubicBezTo>
                    <a:pt x="2867009" y="272127"/>
                    <a:pt x="2861845" y="284594"/>
                    <a:pt x="2852652" y="293786"/>
                  </a:cubicBezTo>
                  <a:cubicBezTo>
                    <a:pt x="2843460" y="302979"/>
                    <a:pt x="2830993" y="308143"/>
                    <a:pt x="2817993" y="308143"/>
                  </a:cubicBezTo>
                  <a:lnTo>
                    <a:pt x="49015" y="308143"/>
                  </a:lnTo>
                  <a:cubicBezTo>
                    <a:pt x="21945" y="308143"/>
                    <a:pt x="0" y="286198"/>
                    <a:pt x="0" y="259127"/>
                  </a:cubicBezTo>
                  <a:lnTo>
                    <a:pt x="0" y="49015"/>
                  </a:lnTo>
                  <a:cubicBezTo>
                    <a:pt x="0" y="21945"/>
                    <a:pt x="21945" y="0"/>
                    <a:pt x="49015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867009" cy="346243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658497" y="2764892"/>
            <a:ext cx="12321660" cy="840836"/>
            <a:chOff x="0" y="0"/>
            <a:chExt cx="2862808" cy="19535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862808" cy="195359"/>
            </a:xfrm>
            <a:custGeom>
              <a:avLst/>
              <a:gdLst/>
              <a:ahLst/>
              <a:cxnLst/>
              <a:rect r="r" b="b" t="t" l="l"/>
              <a:pathLst>
                <a:path h="195359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146272"/>
                  </a:lnTo>
                  <a:cubicBezTo>
                    <a:pt x="2862808" y="159291"/>
                    <a:pt x="2857637" y="171776"/>
                    <a:pt x="2848431" y="180982"/>
                  </a:cubicBezTo>
                  <a:cubicBezTo>
                    <a:pt x="2839225" y="190188"/>
                    <a:pt x="2826740" y="195359"/>
                    <a:pt x="2813721" y="195359"/>
                  </a:cubicBezTo>
                  <a:lnTo>
                    <a:pt x="49087" y="195359"/>
                  </a:lnTo>
                  <a:cubicBezTo>
                    <a:pt x="21977" y="195359"/>
                    <a:pt x="0" y="173382"/>
                    <a:pt x="0" y="146272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2862808" cy="233459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4149667" y="3671892"/>
            <a:ext cx="11331466" cy="1340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20"/>
              </a:lnSpc>
            </a:pP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Usuários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: O ad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ministrador poderá cadastrar, visualizar, alterar e excluir </a:t>
            </a:r>
          </a:p>
          <a:p>
            <a:pPr algn="l">
              <a:lnSpc>
                <a:spcPts val="1284"/>
              </a:lnSpc>
            </a:pP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usuários.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149667" y="5083229"/>
            <a:ext cx="11716268" cy="852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20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Aul</a:t>
            </a:r>
            <a:r>
              <a:rPr lang="en-US" b="true" sz="2568" strike="noStrike" u="non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as: 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Administrador poderá cadastrar, editar e excluir aulas e conteúdos.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117581" y="6393605"/>
            <a:ext cx="11780439" cy="852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20"/>
              </a:lnSpc>
            </a:pP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Níveis: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As aulas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serão organizadas em níveis iniciante, médio e avançado.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149667" y="7948975"/>
            <a:ext cx="11972728" cy="1096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6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T</a:t>
            </a:r>
            <a:r>
              <a:rPr lang="en-US" b="true" sz="2568" strike="noStrike" u="non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rilhas: 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sistema oferecerá trilhas de aprendizagem de acordo com a faixa etária.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893207" y="2525695"/>
            <a:ext cx="11972728" cy="852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20"/>
              </a:lnSpc>
            </a:pP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Cadastro e l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ogin: 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aluno poderá criar uma conta e fazer login na plataforma.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2549913" y="2764892"/>
            <a:ext cx="840836" cy="840836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4" id="3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2549913" y="2680039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01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2568963" y="4013919"/>
            <a:ext cx="840836" cy="840836"/>
            <a:chOff x="0" y="0"/>
            <a:chExt cx="812800" cy="812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8" id="3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549913" y="3929067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02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2568963" y="5374270"/>
            <a:ext cx="840836" cy="840836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2" id="4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2549913" y="5289418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03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2568963" y="6624681"/>
            <a:ext cx="840836" cy="840836"/>
            <a:chOff x="0" y="0"/>
            <a:chExt cx="812800" cy="812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6" id="4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568963" y="6539829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04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2549913" y="8186113"/>
            <a:ext cx="840836" cy="840836"/>
            <a:chOff x="0" y="0"/>
            <a:chExt cx="812800" cy="812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0" id="5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2549913" y="8101261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05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1724279" y="6692966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7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7" y="4071927"/>
                </a:lnTo>
                <a:lnTo>
                  <a:pt x="5184167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599026" y="-500030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7" y="4071927"/>
                </a:lnTo>
                <a:lnTo>
                  <a:pt x="5184167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03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33741" y="851685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REQUISITOS FUNCIONAIS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658497" y="3986728"/>
            <a:ext cx="12321660" cy="840836"/>
            <a:chOff x="0" y="0"/>
            <a:chExt cx="2862808" cy="19535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862808" cy="195359"/>
            </a:xfrm>
            <a:custGeom>
              <a:avLst/>
              <a:gdLst/>
              <a:ahLst/>
              <a:cxnLst/>
              <a:rect r="r" b="b" t="t" l="l"/>
              <a:pathLst>
                <a:path h="195359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146272"/>
                  </a:lnTo>
                  <a:cubicBezTo>
                    <a:pt x="2862808" y="159291"/>
                    <a:pt x="2857637" y="171776"/>
                    <a:pt x="2848431" y="180982"/>
                  </a:cubicBezTo>
                  <a:cubicBezTo>
                    <a:pt x="2839225" y="190188"/>
                    <a:pt x="2826740" y="195359"/>
                    <a:pt x="2813721" y="195359"/>
                  </a:cubicBezTo>
                  <a:lnTo>
                    <a:pt x="49087" y="195359"/>
                  </a:lnTo>
                  <a:cubicBezTo>
                    <a:pt x="21977" y="195359"/>
                    <a:pt x="0" y="173382"/>
                    <a:pt x="0" y="146272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862808" cy="233459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658497" y="5333564"/>
            <a:ext cx="12321660" cy="1359402"/>
            <a:chOff x="0" y="0"/>
            <a:chExt cx="2862808" cy="3158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62808" cy="315843"/>
            </a:xfrm>
            <a:custGeom>
              <a:avLst/>
              <a:gdLst/>
              <a:ahLst/>
              <a:cxnLst/>
              <a:rect r="r" b="b" t="t" l="l"/>
              <a:pathLst>
                <a:path h="315843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266755"/>
                  </a:lnTo>
                  <a:cubicBezTo>
                    <a:pt x="2862808" y="293866"/>
                    <a:pt x="2840831" y="315843"/>
                    <a:pt x="2813721" y="315843"/>
                  </a:cubicBezTo>
                  <a:lnTo>
                    <a:pt x="49087" y="315843"/>
                  </a:lnTo>
                  <a:cubicBezTo>
                    <a:pt x="36069" y="315843"/>
                    <a:pt x="23583" y="310671"/>
                    <a:pt x="14377" y="301465"/>
                  </a:cubicBezTo>
                  <a:cubicBezTo>
                    <a:pt x="5172" y="292260"/>
                    <a:pt x="0" y="279774"/>
                    <a:pt x="0" y="266755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862808" cy="353943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709701" y="6978716"/>
            <a:ext cx="12339739" cy="1342644"/>
            <a:chOff x="0" y="0"/>
            <a:chExt cx="2867009" cy="31194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867009" cy="311949"/>
            </a:xfrm>
            <a:custGeom>
              <a:avLst/>
              <a:gdLst/>
              <a:ahLst/>
              <a:cxnLst/>
              <a:rect r="r" b="b" t="t" l="l"/>
              <a:pathLst>
                <a:path h="311949" w="2867009">
                  <a:moveTo>
                    <a:pt x="49015" y="0"/>
                  </a:moveTo>
                  <a:lnTo>
                    <a:pt x="2817993" y="0"/>
                  </a:lnTo>
                  <a:cubicBezTo>
                    <a:pt x="2845064" y="0"/>
                    <a:pt x="2867009" y="21945"/>
                    <a:pt x="2867009" y="49015"/>
                  </a:cubicBezTo>
                  <a:lnTo>
                    <a:pt x="2867009" y="262934"/>
                  </a:lnTo>
                  <a:cubicBezTo>
                    <a:pt x="2867009" y="275934"/>
                    <a:pt x="2861845" y="288401"/>
                    <a:pt x="2852652" y="297593"/>
                  </a:cubicBezTo>
                  <a:cubicBezTo>
                    <a:pt x="2843460" y="306785"/>
                    <a:pt x="2830993" y="311949"/>
                    <a:pt x="2817993" y="311949"/>
                  </a:cubicBezTo>
                  <a:lnTo>
                    <a:pt x="49015" y="311949"/>
                  </a:lnTo>
                  <a:cubicBezTo>
                    <a:pt x="21945" y="311949"/>
                    <a:pt x="0" y="290004"/>
                    <a:pt x="0" y="262934"/>
                  </a:cubicBezTo>
                  <a:lnTo>
                    <a:pt x="0" y="49015"/>
                  </a:lnTo>
                  <a:cubicBezTo>
                    <a:pt x="0" y="21945"/>
                    <a:pt x="21945" y="0"/>
                    <a:pt x="49015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2867009" cy="350049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658497" y="2764892"/>
            <a:ext cx="12321660" cy="840836"/>
            <a:chOff x="0" y="0"/>
            <a:chExt cx="2862808" cy="19535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862808" cy="195359"/>
            </a:xfrm>
            <a:custGeom>
              <a:avLst/>
              <a:gdLst/>
              <a:ahLst/>
              <a:cxnLst/>
              <a:rect r="r" b="b" t="t" l="l"/>
              <a:pathLst>
                <a:path h="195359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146272"/>
                  </a:lnTo>
                  <a:cubicBezTo>
                    <a:pt x="2862808" y="159291"/>
                    <a:pt x="2857637" y="171776"/>
                    <a:pt x="2848431" y="180982"/>
                  </a:cubicBezTo>
                  <a:cubicBezTo>
                    <a:pt x="2839225" y="190188"/>
                    <a:pt x="2826740" y="195359"/>
                    <a:pt x="2813721" y="195359"/>
                  </a:cubicBezTo>
                  <a:lnTo>
                    <a:pt x="49087" y="195359"/>
                  </a:lnTo>
                  <a:cubicBezTo>
                    <a:pt x="21977" y="195359"/>
                    <a:pt x="0" y="173382"/>
                    <a:pt x="0" y="146272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862808" cy="233459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3989351" y="3747531"/>
            <a:ext cx="12293359" cy="852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20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Progresso: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O siste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ma registrará o processo do aluno durante as atividades.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989351" y="5430935"/>
            <a:ext cx="12008885" cy="1023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Conquist</a:t>
            </a:r>
            <a:r>
              <a:rPr lang="en-US" b="true" sz="2568" strike="noStrike" u="non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as: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O aluno poderá receber e visualizar conquistas conforme seu avanço.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076712" y="6978716"/>
            <a:ext cx="11972728" cy="1096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6"/>
              </a:lnSpc>
            </a:pP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T</a:t>
            </a:r>
            <a:r>
              <a:rPr lang="en-US" b="true" sz="2568" strike="noStrike" u="non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rilhas: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O sistema oferecerá trilhas de aprendizagem de acordo com a faixa etária.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893207" y="2525695"/>
            <a:ext cx="11972728" cy="852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20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Ace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sso às aulas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: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O aluno poderá acessar as aulas disponíveis em sua trilha.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2549913" y="2779146"/>
            <a:ext cx="840836" cy="840836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2549913" y="2694294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06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2568963" y="4013919"/>
            <a:ext cx="840836" cy="840836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4" id="3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2549913" y="3901875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07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2568963" y="5592847"/>
            <a:ext cx="840836" cy="840836"/>
            <a:chOff x="0" y="0"/>
            <a:chExt cx="812800" cy="812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8" id="3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549913" y="5507995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08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2549913" y="7167108"/>
            <a:ext cx="840836" cy="840836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2" id="4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2549913" y="7090908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09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1724279" y="6692966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7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7" y="4071927"/>
                </a:lnTo>
                <a:lnTo>
                  <a:pt x="5184167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599026" y="-500030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7" y="4071927"/>
                </a:lnTo>
                <a:lnTo>
                  <a:pt x="5184167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87841" y="2038372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REQUISITOS FUNCIONAIS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658497" y="3986728"/>
            <a:ext cx="12321660" cy="1346836"/>
            <a:chOff x="0" y="0"/>
            <a:chExt cx="2862808" cy="31292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862808" cy="312923"/>
            </a:xfrm>
            <a:custGeom>
              <a:avLst/>
              <a:gdLst/>
              <a:ahLst/>
              <a:cxnLst/>
              <a:rect r="r" b="b" t="t" l="l"/>
              <a:pathLst>
                <a:path h="312923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263836"/>
                  </a:lnTo>
                  <a:cubicBezTo>
                    <a:pt x="2862808" y="290946"/>
                    <a:pt x="2840831" y="312923"/>
                    <a:pt x="2813721" y="312923"/>
                  </a:cubicBezTo>
                  <a:lnTo>
                    <a:pt x="49087" y="312923"/>
                  </a:lnTo>
                  <a:cubicBezTo>
                    <a:pt x="36069" y="312923"/>
                    <a:pt x="23583" y="307752"/>
                    <a:pt x="14377" y="298546"/>
                  </a:cubicBezTo>
                  <a:cubicBezTo>
                    <a:pt x="5172" y="289340"/>
                    <a:pt x="0" y="276855"/>
                    <a:pt x="0" y="263836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862808" cy="351023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658497" y="5649163"/>
            <a:ext cx="12321660" cy="1588975"/>
            <a:chOff x="0" y="0"/>
            <a:chExt cx="2862808" cy="36918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62808" cy="369182"/>
            </a:xfrm>
            <a:custGeom>
              <a:avLst/>
              <a:gdLst/>
              <a:ahLst/>
              <a:cxnLst/>
              <a:rect r="r" b="b" t="t" l="l"/>
              <a:pathLst>
                <a:path h="369182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320094"/>
                  </a:lnTo>
                  <a:cubicBezTo>
                    <a:pt x="2862808" y="347205"/>
                    <a:pt x="2840831" y="369182"/>
                    <a:pt x="2813721" y="369182"/>
                  </a:cubicBezTo>
                  <a:lnTo>
                    <a:pt x="49087" y="369182"/>
                  </a:lnTo>
                  <a:cubicBezTo>
                    <a:pt x="21977" y="369182"/>
                    <a:pt x="0" y="347205"/>
                    <a:pt x="0" y="320094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862808" cy="407282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897750" y="3966606"/>
            <a:ext cx="12293359" cy="1161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4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Suporte: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O 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aluno poderá abrir chamados para tirar dúvidas ou informar problemas.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832964" y="5699229"/>
            <a:ext cx="11972728" cy="1161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4"/>
              </a:lnSpc>
            </a:pP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Gerenciament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o do suporte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: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O administrador poderá visualizar e responder os chamados.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2568963" y="6023232"/>
            <a:ext cx="840836" cy="840836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568963" y="5938380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12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2568963" y="4239728"/>
            <a:ext cx="840836" cy="840836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2549913" y="4154876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11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1724279" y="7120474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7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7" y="4071927"/>
                </a:lnTo>
                <a:lnTo>
                  <a:pt x="5184167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599026" y="-500030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7" y="4071927"/>
                </a:lnTo>
                <a:lnTo>
                  <a:pt x="5184167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05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33741" y="851685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REQUISITOS NÃO FUNCIONAIS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658497" y="3986728"/>
            <a:ext cx="12321660" cy="1156772"/>
            <a:chOff x="0" y="0"/>
            <a:chExt cx="2862808" cy="2687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862808" cy="268764"/>
            </a:xfrm>
            <a:custGeom>
              <a:avLst/>
              <a:gdLst/>
              <a:ahLst/>
              <a:cxnLst/>
              <a:rect r="r" b="b" t="t" l="l"/>
              <a:pathLst>
                <a:path h="268764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219677"/>
                  </a:lnTo>
                  <a:cubicBezTo>
                    <a:pt x="2862808" y="246787"/>
                    <a:pt x="2840831" y="268764"/>
                    <a:pt x="2813721" y="268764"/>
                  </a:cubicBezTo>
                  <a:lnTo>
                    <a:pt x="49087" y="268764"/>
                  </a:lnTo>
                  <a:cubicBezTo>
                    <a:pt x="36069" y="268764"/>
                    <a:pt x="23583" y="263592"/>
                    <a:pt x="14377" y="254387"/>
                  </a:cubicBezTo>
                  <a:cubicBezTo>
                    <a:pt x="5172" y="245181"/>
                    <a:pt x="0" y="232695"/>
                    <a:pt x="0" y="219677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862808" cy="306864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658497" y="5333564"/>
            <a:ext cx="12321660" cy="1176818"/>
            <a:chOff x="0" y="0"/>
            <a:chExt cx="2862808" cy="27342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62808" cy="273421"/>
            </a:xfrm>
            <a:custGeom>
              <a:avLst/>
              <a:gdLst/>
              <a:ahLst/>
              <a:cxnLst/>
              <a:rect r="r" b="b" t="t" l="l"/>
              <a:pathLst>
                <a:path h="273421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224334"/>
                  </a:lnTo>
                  <a:cubicBezTo>
                    <a:pt x="2862808" y="251444"/>
                    <a:pt x="2840831" y="273421"/>
                    <a:pt x="2813721" y="273421"/>
                  </a:cubicBezTo>
                  <a:lnTo>
                    <a:pt x="49087" y="273421"/>
                  </a:lnTo>
                  <a:cubicBezTo>
                    <a:pt x="36069" y="273421"/>
                    <a:pt x="23583" y="268250"/>
                    <a:pt x="14377" y="259044"/>
                  </a:cubicBezTo>
                  <a:cubicBezTo>
                    <a:pt x="5172" y="249838"/>
                    <a:pt x="0" y="237353"/>
                    <a:pt x="0" y="224334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862808" cy="311521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658497" y="6786606"/>
            <a:ext cx="12321660" cy="1162425"/>
            <a:chOff x="0" y="0"/>
            <a:chExt cx="2862808" cy="27007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862808" cy="270077"/>
            </a:xfrm>
            <a:custGeom>
              <a:avLst/>
              <a:gdLst/>
              <a:ahLst/>
              <a:cxnLst/>
              <a:rect r="r" b="b" t="t" l="l"/>
              <a:pathLst>
                <a:path h="270077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220990"/>
                  </a:lnTo>
                  <a:cubicBezTo>
                    <a:pt x="2862808" y="248100"/>
                    <a:pt x="2840831" y="270077"/>
                    <a:pt x="2813721" y="270077"/>
                  </a:cubicBezTo>
                  <a:lnTo>
                    <a:pt x="49087" y="270077"/>
                  </a:lnTo>
                  <a:cubicBezTo>
                    <a:pt x="36069" y="270077"/>
                    <a:pt x="23583" y="264905"/>
                    <a:pt x="14377" y="255700"/>
                  </a:cubicBezTo>
                  <a:cubicBezTo>
                    <a:pt x="5172" y="246494"/>
                    <a:pt x="0" y="234009"/>
                    <a:pt x="0" y="220990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2862808" cy="308177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658497" y="8236883"/>
            <a:ext cx="12339739" cy="1326260"/>
            <a:chOff x="0" y="0"/>
            <a:chExt cx="2867009" cy="30814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867009" cy="308143"/>
            </a:xfrm>
            <a:custGeom>
              <a:avLst/>
              <a:gdLst/>
              <a:ahLst/>
              <a:cxnLst/>
              <a:rect r="r" b="b" t="t" l="l"/>
              <a:pathLst>
                <a:path h="308143" w="2867009">
                  <a:moveTo>
                    <a:pt x="49015" y="0"/>
                  </a:moveTo>
                  <a:lnTo>
                    <a:pt x="2817993" y="0"/>
                  </a:lnTo>
                  <a:cubicBezTo>
                    <a:pt x="2845064" y="0"/>
                    <a:pt x="2867009" y="21945"/>
                    <a:pt x="2867009" y="49015"/>
                  </a:cubicBezTo>
                  <a:lnTo>
                    <a:pt x="2867009" y="259127"/>
                  </a:lnTo>
                  <a:cubicBezTo>
                    <a:pt x="2867009" y="272127"/>
                    <a:pt x="2861845" y="284594"/>
                    <a:pt x="2852652" y="293786"/>
                  </a:cubicBezTo>
                  <a:cubicBezTo>
                    <a:pt x="2843460" y="302979"/>
                    <a:pt x="2830993" y="308143"/>
                    <a:pt x="2817993" y="308143"/>
                  </a:cubicBezTo>
                  <a:lnTo>
                    <a:pt x="49015" y="308143"/>
                  </a:lnTo>
                  <a:cubicBezTo>
                    <a:pt x="21945" y="308143"/>
                    <a:pt x="0" y="286198"/>
                    <a:pt x="0" y="259127"/>
                  </a:cubicBezTo>
                  <a:lnTo>
                    <a:pt x="0" y="49015"/>
                  </a:lnTo>
                  <a:cubicBezTo>
                    <a:pt x="0" y="21945"/>
                    <a:pt x="21945" y="0"/>
                    <a:pt x="49015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867009" cy="346243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658497" y="2764892"/>
            <a:ext cx="12321660" cy="840836"/>
            <a:chOff x="0" y="0"/>
            <a:chExt cx="2862808" cy="19535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862808" cy="195359"/>
            </a:xfrm>
            <a:custGeom>
              <a:avLst/>
              <a:gdLst/>
              <a:ahLst/>
              <a:cxnLst/>
              <a:rect r="r" b="b" t="t" l="l"/>
              <a:pathLst>
                <a:path h="195359" w="2862808">
                  <a:moveTo>
                    <a:pt x="49087" y="0"/>
                  </a:moveTo>
                  <a:lnTo>
                    <a:pt x="2813721" y="0"/>
                  </a:lnTo>
                  <a:cubicBezTo>
                    <a:pt x="2826740" y="0"/>
                    <a:pt x="2839225" y="5172"/>
                    <a:pt x="2848431" y="14377"/>
                  </a:cubicBezTo>
                  <a:cubicBezTo>
                    <a:pt x="2857637" y="23583"/>
                    <a:pt x="2862808" y="36069"/>
                    <a:pt x="2862808" y="49087"/>
                  </a:cubicBezTo>
                  <a:lnTo>
                    <a:pt x="2862808" y="146272"/>
                  </a:lnTo>
                  <a:cubicBezTo>
                    <a:pt x="2862808" y="159291"/>
                    <a:pt x="2857637" y="171776"/>
                    <a:pt x="2848431" y="180982"/>
                  </a:cubicBezTo>
                  <a:cubicBezTo>
                    <a:pt x="2839225" y="190188"/>
                    <a:pt x="2826740" y="195359"/>
                    <a:pt x="2813721" y="195359"/>
                  </a:cubicBezTo>
                  <a:lnTo>
                    <a:pt x="49087" y="195359"/>
                  </a:lnTo>
                  <a:cubicBezTo>
                    <a:pt x="21977" y="195359"/>
                    <a:pt x="0" y="173382"/>
                    <a:pt x="0" y="146272"/>
                  </a:cubicBezTo>
                  <a:lnTo>
                    <a:pt x="0" y="49087"/>
                  </a:lnTo>
                  <a:cubicBezTo>
                    <a:pt x="0" y="21977"/>
                    <a:pt x="21977" y="0"/>
                    <a:pt x="4908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2862808" cy="233459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4149667" y="3890967"/>
            <a:ext cx="11331466" cy="1161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4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Acessibilidade: 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As 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informações deverão ser apresentadas de forma clara e compreensível.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149667" y="5280321"/>
            <a:ext cx="11716268" cy="1161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4"/>
              </a:lnSpc>
            </a:pP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Segur</a:t>
            </a:r>
            <a:r>
              <a:rPr lang="en-US" b="true" sz="2568" strike="noStrike" u="non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ança: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Os dados dos usuários deverão ser protegidos e o acesso administrativo deverá ser restrito.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117581" y="6612680"/>
            <a:ext cx="11780439" cy="1161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4"/>
              </a:lnSpc>
            </a:pP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Desempenho: 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sistema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 deverá apresentar um bom tempo de resposta durante sua utilização.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117581" y="8255933"/>
            <a:ext cx="11972728" cy="1096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6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Compatib</a:t>
            </a:r>
            <a:r>
              <a:rPr lang="en-US" b="true" sz="2568" strike="noStrike" u="non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ilidade: </a:t>
            </a: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A plataforma deverá funcionar nos principais navegadores </a:t>
            </a:r>
          </a:p>
          <a:p>
            <a:pPr algn="l">
              <a:lnSpc>
                <a:spcPts val="3826"/>
              </a:lnSpc>
            </a:pPr>
            <a:r>
              <a:rPr lang="en-US" sz="2568" strike="noStrike" u="none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e dispositivos.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149667" y="2525782"/>
            <a:ext cx="11972728" cy="852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20"/>
              </a:lnSpc>
            </a:pP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 Us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abilidade</a:t>
            </a:r>
            <a:r>
              <a:rPr lang="en-US" b="true" sz="2568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: </a:t>
            </a:r>
            <a:r>
              <a:rPr lang="en-US" sz="256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sistema deverá ser simples e fácil de utilizar.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2568963" y="2764892"/>
            <a:ext cx="840836" cy="840836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4" id="3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2549913" y="2680039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01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2549913" y="4175209"/>
            <a:ext cx="840836" cy="840836"/>
            <a:chOff x="0" y="0"/>
            <a:chExt cx="812800" cy="812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8" id="3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549913" y="4097030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02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2568963" y="5501555"/>
            <a:ext cx="840836" cy="840836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2" id="4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2549913" y="5416703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03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2600002" y="6922543"/>
            <a:ext cx="840836" cy="840836"/>
            <a:chOff x="0" y="0"/>
            <a:chExt cx="812800" cy="812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6" id="4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568963" y="6837691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04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2619052" y="8581024"/>
            <a:ext cx="840836" cy="840836"/>
            <a:chOff x="0" y="0"/>
            <a:chExt cx="812800" cy="812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0" id="5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2619052" y="8496172"/>
            <a:ext cx="840836" cy="8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</a:pPr>
            <a:r>
              <a:rPr lang="en-US" sz="39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718551" y="-5071028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9" y="0"/>
                </a:lnTo>
                <a:lnTo>
                  <a:pt x="20832619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-1937411">
            <a:off x="-3188830" y="-4922728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59332" y="1367522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REGRAS DE NEGOCIO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4766015" y="3185310"/>
            <a:ext cx="9863488" cy="1530330"/>
            <a:chOff x="0" y="0"/>
            <a:chExt cx="2291678" cy="3555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1678" cy="355556"/>
            </a:xfrm>
            <a:custGeom>
              <a:avLst/>
              <a:gdLst/>
              <a:ahLst/>
              <a:cxnLst/>
              <a:rect r="r" b="b" t="t" l="l"/>
              <a:pathLst>
                <a:path h="355556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294235"/>
                  </a:lnTo>
                  <a:cubicBezTo>
                    <a:pt x="2291678" y="328102"/>
                    <a:pt x="2264224" y="355556"/>
                    <a:pt x="2230357" y="355556"/>
                  </a:cubicBezTo>
                  <a:lnTo>
                    <a:pt x="61321" y="355556"/>
                  </a:lnTo>
                  <a:cubicBezTo>
                    <a:pt x="45058" y="355556"/>
                    <a:pt x="29460" y="349095"/>
                    <a:pt x="17960" y="337596"/>
                  </a:cubicBezTo>
                  <a:cubicBezTo>
                    <a:pt x="6461" y="326096"/>
                    <a:pt x="0" y="310498"/>
                    <a:pt x="0" y="294235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1678" cy="393656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255507" y="3179992"/>
            <a:ext cx="8971237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Todo usuário deve possuir um perfil único: Aluno ou Administrador, definido no momento do cadastro.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3374235" y="3240986"/>
            <a:ext cx="1125099" cy="112509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516366" y="3439172"/>
            <a:ext cx="840836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</a:t>
            </a: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1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766015" y="5001389"/>
            <a:ext cx="9863488" cy="1984557"/>
            <a:chOff x="0" y="0"/>
            <a:chExt cx="2291678" cy="46109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91678" cy="461091"/>
            </a:xfrm>
            <a:custGeom>
              <a:avLst/>
              <a:gdLst/>
              <a:ahLst/>
              <a:cxnLst/>
              <a:rect r="r" b="b" t="t" l="l"/>
              <a:pathLst>
                <a:path h="461091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399770"/>
                  </a:lnTo>
                  <a:cubicBezTo>
                    <a:pt x="2291678" y="416033"/>
                    <a:pt x="2285217" y="431631"/>
                    <a:pt x="2273717" y="443131"/>
                  </a:cubicBezTo>
                  <a:cubicBezTo>
                    <a:pt x="2262218" y="454630"/>
                    <a:pt x="2246620" y="461091"/>
                    <a:pt x="2230357" y="461091"/>
                  </a:cubicBezTo>
                  <a:lnTo>
                    <a:pt x="61321" y="461091"/>
                  </a:lnTo>
                  <a:cubicBezTo>
                    <a:pt x="27454" y="461091"/>
                    <a:pt x="0" y="433637"/>
                    <a:pt x="0" y="399770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291678" cy="499191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766015" y="7313424"/>
            <a:ext cx="9863488" cy="1944876"/>
            <a:chOff x="0" y="0"/>
            <a:chExt cx="2291678" cy="45187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91678" cy="451872"/>
            </a:xfrm>
            <a:custGeom>
              <a:avLst/>
              <a:gdLst/>
              <a:ahLst/>
              <a:cxnLst/>
              <a:rect r="r" b="b" t="t" l="l"/>
              <a:pathLst>
                <a:path h="451872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390551"/>
                  </a:lnTo>
                  <a:cubicBezTo>
                    <a:pt x="2291678" y="424417"/>
                    <a:pt x="2264224" y="451872"/>
                    <a:pt x="2230357" y="451872"/>
                  </a:cubicBezTo>
                  <a:lnTo>
                    <a:pt x="61321" y="451872"/>
                  </a:lnTo>
                  <a:cubicBezTo>
                    <a:pt x="45058" y="451872"/>
                    <a:pt x="29460" y="445411"/>
                    <a:pt x="17960" y="433911"/>
                  </a:cubicBezTo>
                  <a:cubicBezTo>
                    <a:pt x="6461" y="422411"/>
                    <a:pt x="0" y="406814"/>
                    <a:pt x="0" y="390551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291678" cy="489972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445300" y="5387063"/>
            <a:ext cx="1125099" cy="1125099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374235" y="7702089"/>
            <a:ext cx="1125099" cy="1125099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342241" y="4997294"/>
            <a:ext cx="8884503" cy="1773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e-mail do usuário deve ser único no sistema, não sendo permitido o cadastro de dois usuários com o mesmo e-mail.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140862" y="7275420"/>
            <a:ext cx="9287261" cy="17212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8"/>
              </a:lnSpc>
            </a:pPr>
            <a:r>
              <a:rPr lang="en-US" sz="26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acesso às funcionalidades de cadastro, edição e exclusão de usuários, aulas e trilhas é restrito a usuários com perfil Administrador.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16366" y="5585249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RN02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445300" y="7921498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RN03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718551" y="-5071028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9" y="0"/>
                </a:lnTo>
                <a:lnTo>
                  <a:pt x="20832619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-1937411">
            <a:off x="-3188830" y="-4922728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07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59332" y="1175711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REGRAS DE NEGOCIO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4766015" y="2973346"/>
            <a:ext cx="9863488" cy="1530330"/>
            <a:chOff x="0" y="0"/>
            <a:chExt cx="2291678" cy="3555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1678" cy="355556"/>
            </a:xfrm>
            <a:custGeom>
              <a:avLst/>
              <a:gdLst/>
              <a:ahLst/>
              <a:cxnLst/>
              <a:rect r="r" b="b" t="t" l="l"/>
              <a:pathLst>
                <a:path h="355556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294235"/>
                  </a:lnTo>
                  <a:cubicBezTo>
                    <a:pt x="2291678" y="328102"/>
                    <a:pt x="2264224" y="355556"/>
                    <a:pt x="2230357" y="355556"/>
                  </a:cubicBezTo>
                  <a:lnTo>
                    <a:pt x="61321" y="355556"/>
                  </a:lnTo>
                  <a:cubicBezTo>
                    <a:pt x="45058" y="355556"/>
                    <a:pt x="29460" y="349095"/>
                    <a:pt x="17960" y="337596"/>
                  </a:cubicBezTo>
                  <a:cubicBezTo>
                    <a:pt x="6461" y="326096"/>
                    <a:pt x="0" y="310498"/>
                    <a:pt x="0" y="294235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1678" cy="393656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342241" y="2959988"/>
            <a:ext cx="8684502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Toda aula deve estar vinculada a um único nível de dificuldade: iniciante, médio ou avançado.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3374235" y="3136403"/>
            <a:ext cx="1125099" cy="112509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445300" y="3374147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RN04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852748" y="4752242"/>
            <a:ext cx="9863488" cy="1530330"/>
            <a:chOff x="0" y="0"/>
            <a:chExt cx="2291678" cy="3555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91678" cy="355556"/>
            </a:xfrm>
            <a:custGeom>
              <a:avLst/>
              <a:gdLst/>
              <a:ahLst/>
              <a:cxnLst/>
              <a:rect r="r" b="b" t="t" l="l"/>
              <a:pathLst>
                <a:path h="355556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294235"/>
                  </a:lnTo>
                  <a:cubicBezTo>
                    <a:pt x="2291678" y="328102"/>
                    <a:pt x="2264224" y="355556"/>
                    <a:pt x="2230357" y="355556"/>
                  </a:cubicBezTo>
                  <a:lnTo>
                    <a:pt x="61321" y="355556"/>
                  </a:lnTo>
                  <a:cubicBezTo>
                    <a:pt x="45058" y="355556"/>
                    <a:pt x="29460" y="349095"/>
                    <a:pt x="17960" y="337596"/>
                  </a:cubicBezTo>
                  <a:cubicBezTo>
                    <a:pt x="6461" y="326096"/>
                    <a:pt x="0" y="310498"/>
                    <a:pt x="0" y="294235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291678" cy="393656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852748" y="6549272"/>
            <a:ext cx="9863488" cy="977129"/>
            <a:chOff x="0" y="0"/>
            <a:chExt cx="2291678" cy="22702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91678" cy="227026"/>
            </a:xfrm>
            <a:custGeom>
              <a:avLst/>
              <a:gdLst/>
              <a:ahLst/>
              <a:cxnLst/>
              <a:rect r="r" b="b" t="t" l="l"/>
              <a:pathLst>
                <a:path h="227026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165705"/>
                  </a:lnTo>
                  <a:cubicBezTo>
                    <a:pt x="2291678" y="199571"/>
                    <a:pt x="2264224" y="227026"/>
                    <a:pt x="2230357" y="227026"/>
                  </a:cubicBezTo>
                  <a:lnTo>
                    <a:pt x="61321" y="227026"/>
                  </a:lnTo>
                  <a:cubicBezTo>
                    <a:pt x="45058" y="227026"/>
                    <a:pt x="29460" y="220565"/>
                    <a:pt x="17960" y="209065"/>
                  </a:cubicBezTo>
                  <a:cubicBezTo>
                    <a:pt x="6461" y="197565"/>
                    <a:pt x="0" y="181968"/>
                    <a:pt x="0" y="165705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291678" cy="265126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74235" y="4921029"/>
            <a:ext cx="1125099" cy="1125099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445300" y="6475287"/>
            <a:ext cx="1125099" cy="1125099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342241" y="4760851"/>
            <a:ext cx="8884503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Toda aula deve possuir um status (não iniciado / em andamento / concluído)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355508" y="6368297"/>
            <a:ext cx="8684502" cy="894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5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Toda trilha deve ter uma faixa etária definida.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445300" y="5167713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RN05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516366" y="6712878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RN06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4852748" y="7793101"/>
            <a:ext cx="9863488" cy="1939923"/>
            <a:chOff x="0" y="0"/>
            <a:chExt cx="2291678" cy="45072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291678" cy="450721"/>
            </a:xfrm>
            <a:custGeom>
              <a:avLst/>
              <a:gdLst/>
              <a:ahLst/>
              <a:cxnLst/>
              <a:rect r="r" b="b" t="t" l="l"/>
              <a:pathLst>
                <a:path h="450721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389400"/>
                  </a:lnTo>
                  <a:cubicBezTo>
                    <a:pt x="2291678" y="423266"/>
                    <a:pt x="2264224" y="450721"/>
                    <a:pt x="2230357" y="450721"/>
                  </a:cubicBezTo>
                  <a:lnTo>
                    <a:pt x="61321" y="450721"/>
                  </a:lnTo>
                  <a:cubicBezTo>
                    <a:pt x="45058" y="450721"/>
                    <a:pt x="29460" y="444260"/>
                    <a:pt x="17960" y="432760"/>
                  </a:cubicBezTo>
                  <a:cubicBezTo>
                    <a:pt x="6461" y="421260"/>
                    <a:pt x="0" y="405663"/>
                    <a:pt x="0" y="389400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2291678" cy="488821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5342241" y="7840726"/>
            <a:ext cx="8884503" cy="1773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Um aluno deve ser automaticamente direcionado à trilha correspondente à sua faixa etária no momento do cadastro ou login.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3445300" y="8257611"/>
            <a:ext cx="1125099" cy="1125099"/>
            <a:chOff x="0" y="0"/>
            <a:chExt cx="812800" cy="812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1" id="4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3516366" y="8425115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RN07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718551" y="-5071028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9" y="0"/>
                </a:lnTo>
                <a:lnTo>
                  <a:pt x="20832619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-1937411">
            <a:off x="-3188830" y="-4922728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08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59332" y="1099511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REGRAS DE NEGOCIO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4766015" y="3185310"/>
            <a:ext cx="9863488" cy="1530330"/>
            <a:chOff x="0" y="0"/>
            <a:chExt cx="2291678" cy="3555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1678" cy="355556"/>
            </a:xfrm>
            <a:custGeom>
              <a:avLst/>
              <a:gdLst/>
              <a:ahLst/>
              <a:cxnLst/>
              <a:rect r="r" b="b" t="t" l="l"/>
              <a:pathLst>
                <a:path h="355556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294235"/>
                  </a:lnTo>
                  <a:cubicBezTo>
                    <a:pt x="2291678" y="328102"/>
                    <a:pt x="2264224" y="355556"/>
                    <a:pt x="2230357" y="355556"/>
                  </a:cubicBezTo>
                  <a:lnTo>
                    <a:pt x="61321" y="355556"/>
                  </a:lnTo>
                  <a:cubicBezTo>
                    <a:pt x="45058" y="355556"/>
                    <a:pt x="29460" y="349095"/>
                    <a:pt x="17960" y="337596"/>
                  </a:cubicBezTo>
                  <a:cubicBezTo>
                    <a:pt x="6461" y="326096"/>
                    <a:pt x="0" y="310498"/>
                    <a:pt x="0" y="294235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1678" cy="393656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298874" y="3276535"/>
            <a:ext cx="8884503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aluno só pode acessar as aulas pertencentes à trilha à qual está vinculado.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3374235" y="3341519"/>
            <a:ext cx="1125099" cy="112509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445300" y="3586111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RN08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766015" y="5001389"/>
            <a:ext cx="9863488" cy="1530330"/>
            <a:chOff x="0" y="0"/>
            <a:chExt cx="2291678" cy="3555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91678" cy="355556"/>
            </a:xfrm>
            <a:custGeom>
              <a:avLst/>
              <a:gdLst/>
              <a:ahLst/>
              <a:cxnLst/>
              <a:rect r="r" b="b" t="t" l="l"/>
              <a:pathLst>
                <a:path h="355556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294235"/>
                  </a:lnTo>
                  <a:cubicBezTo>
                    <a:pt x="2291678" y="328102"/>
                    <a:pt x="2264224" y="355556"/>
                    <a:pt x="2230357" y="355556"/>
                  </a:cubicBezTo>
                  <a:lnTo>
                    <a:pt x="61321" y="355556"/>
                  </a:lnTo>
                  <a:cubicBezTo>
                    <a:pt x="45058" y="355556"/>
                    <a:pt x="29460" y="349095"/>
                    <a:pt x="17960" y="337596"/>
                  </a:cubicBezTo>
                  <a:cubicBezTo>
                    <a:pt x="6461" y="326096"/>
                    <a:pt x="0" y="310498"/>
                    <a:pt x="0" y="294235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291678" cy="393656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766015" y="6979394"/>
            <a:ext cx="9863488" cy="1557049"/>
            <a:chOff x="0" y="0"/>
            <a:chExt cx="2291678" cy="36176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91678" cy="361764"/>
            </a:xfrm>
            <a:custGeom>
              <a:avLst/>
              <a:gdLst/>
              <a:ahLst/>
              <a:cxnLst/>
              <a:rect r="r" b="b" t="t" l="l"/>
              <a:pathLst>
                <a:path h="361764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300443"/>
                  </a:lnTo>
                  <a:cubicBezTo>
                    <a:pt x="2291678" y="334310"/>
                    <a:pt x="2264224" y="361764"/>
                    <a:pt x="2230357" y="361764"/>
                  </a:cubicBezTo>
                  <a:lnTo>
                    <a:pt x="61321" y="361764"/>
                  </a:lnTo>
                  <a:cubicBezTo>
                    <a:pt x="27454" y="361764"/>
                    <a:pt x="0" y="334310"/>
                    <a:pt x="0" y="300443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291678" cy="399864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74235" y="5175100"/>
            <a:ext cx="1125099" cy="1125099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374235" y="7230517"/>
            <a:ext cx="1125099" cy="1125099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342241" y="5108552"/>
            <a:ext cx="8523339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Cada registro de progresso deve estar vinculado a um aluno e a uma aula específica.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342241" y="7054102"/>
            <a:ext cx="8797769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A data de conclusão só pode ser preenchida quando a situação do progresso for "concluído"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445300" y="5373285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RN09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445300" y="7428703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RN10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718551" y="-5071028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9" y="0"/>
                </a:lnTo>
                <a:lnTo>
                  <a:pt x="20832619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-1937411">
            <a:off x="-3188830" y="-4922728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09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59332" y="937586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REGRAS DE NEGOCIO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4766015" y="2622760"/>
            <a:ext cx="9863488" cy="1597579"/>
            <a:chOff x="0" y="0"/>
            <a:chExt cx="2291678" cy="37118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1678" cy="371181"/>
            </a:xfrm>
            <a:custGeom>
              <a:avLst/>
              <a:gdLst/>
              <a:ahLst/>
              <a:cxnLst/>
              <a:rect r="r" b="b" t="t" l="l"/>
              <a:pathLst>
                <a:path h="371181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309860"/>
                  </a:lnTo>
                  <a:cubicBezTo>
                    <a:pt x="2291678" y="326123"/>
                    <a:pt x="2285217" y="341720"/>
                    <a:pt x="2273717" y="353220"/>
                  </a:cubicBezTo>
                  <a:cubicBezTo>
                    <a:pt x="2262218" y="364720"/>
                    <a:pt x="2246620" y="371181"/>
                    <a:pt x="2230357" y="371181"/>
                  </a:cubicBezTo>
                  <a:lnTo>
                    <a:pt x="61321" y="371181"/>
                  </a:lnTo>
                  <a:cubicBezTo>
                    <a:pt x="27454" y="371181"/>
                    <a:pt x="0" y="343726"/>
                    <a:pt x="0" y="309860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1678" cy="409281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255507" y="2687412"/>
            <a:ext cx="8884503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aluno só avança para o próximo nível dentro da trilha, se todas as aulas do nível anterior forem concluídas.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3374235" y="2834724"/>
            <a:ext cx="1125099" cy="112509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445300" y="3057186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RN11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766015" y="4372739"/>
            <a:ext cx="9863488" cy="1530330"/>
            <a:chOff x="0" y="0"/>
            <a:chExt cx="2291678" cy="3555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91678" cy="355556"/>
            </a:xfrm>
            <a:custGeom>
              <a:avLst/>
              <a:gdLst/>
              <a:ahLst/>
              <a:cxnLst/>
              <a:rect r="r" b="b" t="t" l="l"/>
              <a:pathLst>
                <a:path h="355556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294235"/>
                  </a:lnTo>
                  <a:cubicBezTo>
                    <a:pt x="2291678" y="328102"/>
                    <a:pt x="2264224" y="355556"/>
                    <a:pt x="2230357" y="355556"/>
                  </a:cubicBezTo>
                  <a:lnTo>
                    <a:pt x="61321" y="355556"/>
                  </a:lnTo>
                  <a:cubicBezTo>
                    <a:pt x="45058" y="355556"/>
                    <a:pt x="29460" y="349095"/>
                    <a:pt x="17960" y="337596"/>
                  </a:cubicBezTo>
                  <a:cubicBezTo>
                    <a:pt x="6461" y="326096"/>
                    <a:pt x="0" y="310498"/>
                    <a:pt x="0" y="294235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291678" cy="393656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766015" y="6057112"/>
            <a:ext cx="9863488" cy="1871045"/>
            <a:chOff x="0" y="0"/>
            <a:chExt cx="2291678" cy="43471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91678" cy="434718"/>
            </a:xfrm>
            <a:custGeom>
              <a:avLst/>
              <a:gdLst/>
              <a:ahLst/>
              <a:cxnLst/>
              <a:rect r="r" b="b" t="t" l="l"/>
              <a:pathLst>
                <a:path h="434718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373397"/>
                  </a:lnTo>
                  <a:cubicBezTo>
                    <a:pt x="2291678" y="389660"/>
                    <a:pt x="2285217" y="405257"/>
                    <a:pt x="2273717" y="416757"/>
                  </a:cubicBezTo>
                  <a:cubicBezTo>
                    <a:pt x="2262218" y="428257"/>
                    <a:pt x="2246620" y="434718"/>
                    <a:pt x="2230357" y="434718"/>
                  </a:cubicBezTo>
                  <a:lnTo>
                    <a:pt x="61321" y="434718"/>
                  </a:lnTo>
                  <a:cubicBezTo>
                    <a:pt x="27454" y="434718"/>
                    <a:pt x="0" y="407263"/>
                    <a:pt x="0" y="373397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291678" cy="472818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74235" y="4439304"/>
            <a:ext cx="1125099" cy="1125099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445300" y="6259728"/>
            <a:ext cx="1125099" cy="1125099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342241" y="4372274"/>
            <a:ext cx="8754402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Uma conquista só pode ser atribuída ao aluno quando a trilha, aula ou nível correspondente for concluída.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277191" y="6002553"/>
            <a:ext cx="8841136" cy="1773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O aluno pode visualizar apenas suas próprias conquistas, não tendo acesso às conquistas de outros alunos.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445300" y="4637026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RN12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516366" y="6506411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RN13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4787698" y="8280582"/>
            <a:ext cx="9863488" cy="1342015"/>
            <a:chOff x="0" y="0"/>
            <a:chExt cx="2291678" cy="31180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291678" cy="311803"/>
            </a:xfrm>
            <a:custGeom>
              <a:avLst/>
              <a:gdLst/>
              <a:ahLst/>
              <a:cxnLst/>
              <a:rect r="r" b="b" t="t" l="l"/>
              <a:pathLst>
                <a:path h="311803" w="2291678">
                  <a:moveTo>
                    <a:pt x="61321" y="0"/>
                  </a:moveTo>
                  <a:lnTo>
                    <a:pt x="2230357" y="0"/>
                  </a:lnTo>
                  <a:cubicBezTo>
                    <a:pt x="2264224" y="0"/>
                    <a:pt x="2291678" y="27454"/>
                    <a:pt x="2291678" y="61321"/>
                  </a:cubicBezTo>
                  <a:lnTo>
                    <a:pt x="2291678" y="250482"/>
                  </a:lnTo>
                  <a:cubicBezTo>
                    <a:pt x="2291678" y="284349"/>
                    <a:pt x="2264224" y="311803"/>
                    <a:pt x="2230357" y="311803"/>
                  </a:cubicBezTo>
                  <a:lnTo>
                    <a:pt x="61321" y="311803"/>
                  </a:lnTo>
                  <a:cubicBezTo>
                    <a:pt x="45058" y="311803"/>
                    <a:pt x="29460" y="305342"/>
                    <a:pt x="17960" y="293843"/>
                  </a:cubicBezTo>
                  <a:cubicBezTo>
                    <a:pt x="6461" y="282343"/>
                    <a:pt x="0" y="266745"/>
                    <a:pt x="0" y="250482"/>
                  </a:cubicBezTo>
                  <a:lnTo>
                    <a:pt x="0" y="61321"/>
                  </a:lnTo>
                  <a:cubicBezTo>
                    <a:pt x="0" y="27454"/>
                    <a:pt x="27454" y="0"/>
                    <a:pt x="6132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2291678" cy="349903"/>
            </a:xfrm>
            <a:prstGeom prst="rect">
              <a:avLst/>
            </a:prstGeom>
          </p:spPr>
          <p:txBody>
            <a:bodyPr anchor="ctr" rtlCol="false" tIns="44989" lIns="44989" bIns="44989" rIns="449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5342241" y="8212625"/>
            <a:ext cx="8934984" cy="122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2714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Uma mesma conquista não pode ser concedida duas vezes ao mesmo aluno.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3445300" y="8359649"/>
            <a:ext cx="1125099" cy="1125099"/>
            <a:chOff x="0" y="0"/>
            <a:chExt cx="812800" cy="812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1" id="4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3516366" y="8546876"/>
            <a:ext cx="982967" cy="576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7"/>
              </a:lnSpc>
            </a:pPr>
            <a:r>
              <a:rPr lang="en-US" sz="2825">
                <a:solidFill>
                  <a:srgbClr val="FFFFF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RN14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334877" y="648346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6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6" y="4071927"/>
                </a:lnTo>
                <a:lnTo>
                  <a:pt x="518416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10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353059" y="4108450"/>
            <a:ext cx="11581882" cy="103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800"/>
              </a:lnSpc>
              <a:spcBef>
                <a:spcPct val="0"/>
              </a:spcBef>
            </a:pPr>
            <a:r>
              <a:rPr lang="en-US" b="true" sz="5000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MODELAGEM CONCEITUAL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114800" y="-35393"/>
            <a:ext cx="10584180" cy="10357786"/>
          </a:xfrm>
          <a:custGeom>
            <a:avLst/>
            <a:gdLst/>
            <a:ahLst/>
            <a:cxnLst/>
            <a:rect r="r" b="b" t="t" l="l"/>
            <a:pathLst>
              <a:path h="10357786" w="10584180">
                <a:moveTo>
                  <a:pt x="0" y="0"/>
                </a:moveTo>
                <a:lnTo>
                  <a:pt x="10584180" y="0"/>
                </a:lnTo>
                <a:lnTo>
                  <a:pt x="10584180" y="10357786"/>
                </a:lnTo>
                <a:lnTo>
                  <a:pt x="0" y="103577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0881" t="0" r="-2599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334877" y="648346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6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6" y="4071927"/>
                </a:lnTo>
                <a:lnTo>
                  <a:pt x="518416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"/>
                <a:ea typeface="Prachason Neue Mon"/>
                <a:cs typeface="Prachason Neue Mon"/>
                <a:sym typeface="Prachason Neue Mon"/>
              </a:rPr>
              <a:t>1</a:t>
            </a:r>
            <a:r>
              <a:rPr lang="en-US" sz="33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"/>
                <a:ea typeface="Prachason Neue Mon"/>
                <a:cs typeface="Prachason Neue Mon"/>
                <a:sym typeface="Prachason Neue Mon"/>
              </a:rPr>
              <a:t>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353059" y="4108450"/>
            <a:ext cx="11581882" cy="103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800"/>
              </a:lnSpc>
              <a:spcBef>
                <a:spcPct val="0"/>
              </a:spcBef>
            </a:pPr>
            <a:r>
              <a:rPr lang="en-US" b="true" sz="5000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MODELO LÓGICO RELACIONAL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334877" y="648346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6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6" y="4071927"/>
                </a:lnTo>
                <a:lnTo>
                  <a:pt x="518416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0" y="0"/>
            <a:ext cx="18288000" cy="10288745"/>
          </a:xfrm>
          <a:custGeom>
            <a:avLst/>
            <a:gdLst/>
            <a:ahLst/>
            <a:cxnLst/>
            <a:rect r="r" b="b" t="t" l="l"/>
            <a:pathLst>
              <a:path h="10288745" w="18288000">
                <a:moveTo>
                  <a:pt x="0" y="0"/>
                </a:moveTo>
                <a:lnTo>
                  <a:pt x="18288000" y="0"/>
                </a:lnTo>
                <a:lnTo>
                  <a:pt x="18288000" y="10288745"/>
                </a:lnTo>
                <a:lnTo>
                  <a:pt x="0" y="102887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334877" y="648346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6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6" y="4071927"/>
                </a:lnTo>
                <a:lnTo>
                  <a:pt x="518416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353059" y="1690273"/>
            <a:ext cx="11581882" cy="1113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5500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VERIFICAÇÃO DE NORMALIZAÇÃO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28700" y="4949601"/>
            <a:ext cx="3628008" cy="1902047"/>
            <a:chOff x="0" y="0"/>
            <a:chExt cx="936910" cy="49119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36910" cy="491192"/>
            </a:xfrm>
            <a:custGeom>
              <a:avLst/>
              <a:gdLst/>
              <a:ahLst/>
              <a:cxnLst/>
              <a:rect r="r" b="b" t="t" l="l"/>
              <a:pathLst>
                <a:path h="491192" w="936910">
                  <a:moveTo>
                    <a:pt x="103362" y="0"/>
                  </a:moveTo>
                  <a:lnTo>
                    <a:pt x="833548" y="0"/>
                  </a:lnTo>
                  <a:cubicBezTo>
                    <a:pt x="860961" y="0"/>
                    <a:pt x="887252" y="10890"/>
                    <a:pt x="906636" y="30274"/>
                  </a:cubicBezTo>
                  <a:cubicBezTo>
                    <a:pt x="926020" y="49658"/>
                    <a:pt x="936910" y="75949"/>
                    <a:pt x="936910" y="103362"/>
                  </a:cubicBezTo>
                  <a:lnTo>
                    <a:pt x="936910" y="387830"/>
                  </a:lnTo>
                  <a:cubicBezTo>
                    <a:pt x="936910" y="415243"/>
                    <a:pt x="926020" y="441534"/>
                    <a:pt x="906636" y="460918"/>
                  </a:cubicBezTo>
                  <a:cubicBezTo>
                    <a:pt x="887252" y="480302"/>
                    <a:pt x="860961" y="491192"/>
                    <a:pt x="833548" y="491192"/>
                  </a:cubicBezTo>
                  <a:lnTo>
                    <a:pt x="103362" y="491192"/>
                  </a:lnTo>
                  <a:cubicBezTo>
                    <a:pt x="75949" y="491192"/>
                    <a:pt x="49658" y="480302"/>
                    <a:pt x="30274" y="460918"/>
                  </a:cubicBezTo>
                  <a:cubicBezTo>
                    <a:pt x="10890" y="441534"/>
                    <a:pt x="0" y="415243"/>
                    <a:pt x="0" y="387830"/>
                  </a:cubicBezTo>
                  <a:lnTo>
                    <a:pt x="0" y="103362"/>
                  </a:lnTo>
                  <a:cubicBezTo>
                    <a:pt x="0" y="75949"/>
                    <a:pt x="10890" y="49658"/>
                    <a:pt x="30274" y="30274"/>
                  </a:cubicBezTo>
                  <a:cubicBezTo>
                    <a:pt x="49658" y="10890"/>
                    <a:pt x="75949" y="0"/>
                    <a:pt x="103362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936910" cy="529292"/>
            </a:xfrm>
            <a:prstGeom prst="rect">
              <a:avLst/>
            </a:prstGeom>
          </p:spPr>
          <p:txBody>
            <a:bodyPr anchor="ctr" rtlCol="false" tIns="40476" lIns="40476" bIns="40476" rIns="40476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289756" y="5403189"/>
            <a:ext cx="3105896" cy="653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7971" indent="-178985" lvl="1">
              <a:lnSpc>
                <a:spcPts val="2321"/>
              </a:lnSpc>
              <a:buFont typeface="Arial"/>
              <a:buChar char="•"/>
            </a:pPr>
            <a:r>
              <a:rPr lang="en-US" sz="165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Primeiro nome e sobrenome</a:t>
            </a:r>
          </a:p>
          <a:p>
            <a:pPr algn="l">
              <a:lnSpc>
                <a:spcPts val="2321"/>
              </a:lnSpc>
            </a:pPr>
            <a:r>
              <a:rPr lang="en-US" sz="165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separados. 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3135" y="3520660"/>
            <a:ext cx="3628008" cy="949447"/>
            <a:chOff x="0" y="0"/>
            <a:chExt cx="746504" cy="19535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46504" cy="195359"/>
            </a:xfrm>
            <a:custGeom>
              <a:avLst/>
              <a:gdLst/>
              <a:ahLst/>
              <a:cxnLst/>
              <a:rect r="r" b="b" t="t" l="l"/>
              <a:pathLst>
                <a:path h="195359" w="746504">
                  <a:moveTo>
                    <a:pt x="97680" y="0"/>
                  </a:moveTo>
                  <a:lnTo>
                    <a:pt x="648824" y="0"/>
                  </a:lnTo>
                  <a:cubicBezTo>
                    <a:pt x="674730" y="0"/>
                    <a:pt x="699575" y="10291"/>
                    <a:pt x="717894" y="28610"/>
                  </a:cubicBezTo>
                  <a:cubicBezTo>
                    <a:pt x="736212" y="46928"/>
                    <a:pt x="746504" y="71773"/>
                    <a:pt x="746504" y="97680"/>
                  </a:cubicBezTo>
                  <a:lnTo>
                    <a:pt x="746504" y="97680"/>
                  </a:lnTo>
                  <a:cubicBezTo>
                    <a:pt x="746504" y="123586"/>
                    <a:pt x="736212" y="148431"/>
                    <a:pt x="717894" y="166750"/>
                  </a:cubicBezTo>
                  <a:cubicBezTo>
                    <a:pt x="699575" y="185068"/>
                    <a:pt x="674730" y="195359"/>
                    <a:pt x="648824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746504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568917" y="3765435"/>
            <a:ext cx="2851701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1C253F"/>
                </a:solidFill>
                <a:latin typeface="Muli Bold"/>
                <a:ea typeface="Muli Bold"/>
                <a:cs typeface="Muli Bold"/>
                <a:sym typeface="Muli Bold"/>
              </a:rPr>
              <a:t>1FN: Dados Atômicos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163567" y="3548336"/>
            <a:ext cx="3628008" cy="949447"/>
            <a:chOff x="0" y="0"/>
            <a:chExt cx="746504" cy="19535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46504" cy="195359"/>
            </a:xfrm>
            <a:custGeom>
              <a:avLst/>
              <a:gdLst/>
              <a:ahLst/>
              <a:cxnLst/>
              <a:rect r="r" b="b" t="t" l="l"/>
              <a:pathLst>
                <a:path h="195359" w="746504">
                  <a:moveTo>
                    <a:pt x="97680" y="0"/>
                  </a:moveTo>
                  <a:lnTo>
                    <a:pt x="648824" y="0"/>
                  </a:lnTo>
                  <a:cubicBezTo>
                    <a:pt x="674730" y="0"/>
                    <a:pt x="699575" y="10291"/>
                    <a:pt x="717894" y="28610"/>
                  </a:cubicBezTo>
                  <a:cubicBezTo>
                    <a:pt x="736212" y="46928"/>
                    <a:pt x="746504" y="71773"/>
                    <a:pt x="746504" y="97680"/>
                  </a:cubicBezTo>
                  <a:lnTo>
                    <a:pt x="746504" y="97680"/>
                  </a:lnTo>
                  <a:cubicBezTo>
                    <a:pt x="746504" y="123586"/>
                    <a:pt x="736212" y="148431"/>
                    <a:pt x="717894" y="166750"/>
                  </a:cubicBezTo>
                  <a:cubicBezTo>
                    <a:pt x="699575" y="185068"/>
                    <a:pt x="674730" y="195359"/>
                    <a:pt x="648824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746504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25163" y="4840683"/>
            <a:ext cx="3628008" cy="1902047"/>
            <a:chOff x="0" y="0"/>
            <a:chExt cx="936910" cy="4911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36910" cy="491192"/>
            </a:xfrm>
            <a:custGeom>
              <a:avLst/>
              <a:gdLst/>
              <a:ahLst/>
              <a:cxnLst/>
              <a:rect r="r" b="b" t="t" l="l"/>
              <a:pathLst>
                <a:path h="491192" w="936910">
                  <a:moveTo>
                    <a:pt x="103362" y="0"/>
                  </a:moveTo>
                  <a:lnTo>
                    <a:pt x="833548" y="0"/>
                  </a:lnTo>
                  <a:cubicBezTo>
                    <a:pt x="860961" y="0"/>
                    <a:pt x="887252" y="10890"/>
                    <a:pt x="906636" y="30274"/>
                  </a:cubicBezTo>
                  <a:cubicBezTo>
                    <a:pt x="926020" y="49658"/>
                    <a:pt x="936910" y="75949"/>
                    <a:pt x="936910" y="103362"/>
                  </a:cubicBezTo>
                  <a:lnTo>
                    <a:pt x="936910" y="387830"/>
                  </a:lnTo>
                  <a:cubicBezTo>
                    <a:pt x="936910" y="415243"/>
                    <a:pt x="926020" y="441534"/>
                    <a:pt x="906636" y="460918"/>
                  </a:cubicBezTo>
                  <a:cubicBezTo>
                    <a:pt x="887252" y="480302"/>
                    <a:pt x="860961" y="491192"/>
                    <a:pt x="833548" y="491192"/>
                  </a:cubicBezTo>
                  <a:lnTo>
                    <a:pt x="103362" y="491192"/>
                  </a:lnTo>
                  <a:cubicBezTo>
                    <a:pt x="75949" y="491192"/>
                    <a:pt x="49658" y="480302"/>
                    <a:pt x="30274" y="460918"/>
                  </a:cubicBezTo>
                  <a:cubicBezTo>
                    <a:pt x="10890" y="441534"/>
                    <a:pt x="0" y="415243"/>
                    <a:pt x="0" y="387830"/>
                  </a:cubicBezTo>
                  <a:lnTo>
                    <a:pt x="0" y="103362"/>
                  </a:lnTo>
                  <a:cubicBezTo>
                    <a:pt x="0" y="75949"/>
                    <a:pt x="10890" y="49658"/>
                    <a:pt x="30274" y="30274"/>
                  </a:cubicBezTo>
                  <a:cubicBezTo>
                    <a:pt x="49658" y="10890"/>
                    <a:pt x="75949" y="0"/>
                    <a:pt x="103362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936910" cy="529292"/>
            </a:xfrm>
            <a:prstGeom prst="rect">
              <a:avLst/>
            </a:prstGeom>
          </p:spPr>
          <p:txBody>
            <a:bodyPr anchor="ctr" rtlCol="false" tIns="40476" lIns="40476" bIns="40476" rIns="40476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144000" y="4840683"/>
            <a:ext cx="3628008" cy="1902047"/>
            <a:chOff x="0" y="0"/>
            <a:chExt cx="936910" cy="49119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36910" cy="491192"/>
            </a:xfrm>
            <a:custGeom>
              <a:avLst/>
              <a:gdLst/>
              <a:ahLst/>
              <a:cxnLst/>
              <a:rect r="r" b="b" t="t" l="l"/>
              <a:pathLst>
                <a:path h="491192" w="936910">
                  <a:moveTo>
                    <a:pt x="103362" y="0"/>
                  </a:moveTo>
                  <a:lnTo>
                    <a:pt x="833548" y="0"/>
                  </a:lnTo>
                  <a:cubicBezTo>
                    <a:pt x="860961" y="0"/>
                    <a:pt x="887252" y="10890"/>
                    <a:pt x="906636" y="30274"/>
                  </a:cubicBezTo>
                  <a:cubicBezTo>
                    <a:pt x="926020" y="49658"/>
                    <a:pt x="936910" y="75949"/>
                    <a:pt x="936910" y="103362"/>
                  </a:cubicBezTo>
                  <a:lnTo>
                    <a:pt x="936910" y="387830"/>
                  </a:lnTo>
                  <a:cubicBezTo>
                    <a:pt x="936910" y="415243"/>
                    <a:pt x="926020" y="441534"/>
                    <a:pt x="906636" y="460918"/>
                  </a:cubicBezTo>
                  <a:cubicBezTo>
                    <a:pt x="887252" y="480302"/>
                    <a:pt x="860961" y="491192"/>
                    <a:pt x="833548" y="491192"/>
                  </a:cubicBezTo>
                  <a:lnTo>
                    <a:pt x="103362" y="491192"/>
                  </a:lnTo>
                  <a:cubicBezTo>
                    <a:pt x="75949" y="491192"/>
                    <a:pt x="49658" y="480302"/>
                    <a:pt x="30274" y="460918"/>
                  </a:cubicBezTo>
                  <a:cubicBezTo>
                    <a:pt x="10890" y="441534"/>
                    <a:pt x="0" y="415243"/>
                    <a:pt x="0" y="387830"/>
                  </a:cubicBezTo>
                  <a:lnTo>
                    <a:pt x="0" y="103362"/>
                  </a:lnTo>
                  <a:cubicBezTo>
                    <a:pt x="0" y="75949"/>
                    <a:pt x="10890" y="49658"/>
                    <a:pt x="30274" y="30274"/>
                  </a:cubicBezTo>
                  <a:cubicBezTo>
                    <a:pt x="49658" y="10890"/>
                    <a:pt x="75949" y="0"/>
                    <a:pt x="103362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936910" cy="529292"/>
            </a:xfrm>
            <a:prstGeom prst="rect">
              <a:avLst/>
            </a:prstGeom>
          </p:spPr>
          <p:txBody>
            <a:bodyPr anchor="ctr" rtlCol="false" tIns="40476" lIns="40476" bIns="40476" rIns="40476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144000" y="3548336"/>
            <a:ext cx="3628008" cy="949447"/>
            <a:chOff x="0" y="0"/>
            <a:chExt cx="746504" cy="19535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46504" cy="195359"/>
            </a:xfrm>
            <a:custGeom>
              <a:avLst/>
              <a:gdLst/>
              <a:ahLst/>
              <a:cxnLst/>
              <a:rect r="r" b="b" t="t" l="l"/>
              <a:pathLst>
                <a:path h="195359" w="746504">
                  <a:moveTo>
                    <a:pt x="97680" y="0"/>
                  </a:moveTo>
                  <a:lnTo>
                    <a:pt x="648824" y="0"/>
                  </a:lnTo>
                  <a:cubicBezTo>
                    <a:pt x="674730" y="0"/>
                    <a:pt x="699575" y="10291"/>
                    <a:pt x="717894" y="28610"/>
                  </a:cubicBezTo>
                  <a:cubicBezTo>
                    <a:pt x="736212" y="46928"/>
                    <a:pt x="746504" y="71773"/>
                    <a:pt x="746504" y="97680"/>
                  </a:cubicBezTo>
                  <a:lnTo>
                    <a:pt x="746504" y="97680"/>
                  </a:lnTo>
                  <a:cubicBezTo>
                    <a:pt x="746504" y="123586"/>
                    <a:pt x="736212" y="148431"/>
                    <a:pt x="717894" y="166750"/>
                  </a:cubicBezTo>
                  <a:cubicBezTo>
                    <a:pt x="699575" y="185068"/>
                    <a:pt x="674730" y="195359"/>
                    <a:pt x="648824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46504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3120937" y="3520660"/>
            <a:ext cx="3628008" cy="949447"/>
            <a:chOff x="0" y="0"/>
            <a:chExt cx="746504" cy="19535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46504" cy="195359"/>
            </a:xfrm>
            <a:custGeom>
              <a:avLst/>
              <a:gdLst/>
              <a:ahLst/>
              <a:cxnLst/>
              <a:rect r="r" b="b" t="t" l="l"/>
              <a:pathLst>
                <a:path h="195359" w="746504">
                  <a:moveTo>
                    <a:pt x="97680" y="0"/>
                  </a:moveTo>
                  <a:lnTo>
                    <a:pt x="648824" y="0"/>
                  </a:lnTo>
                  <a:cubicBezTo>
                    <a:pt x="674730" y="0"/>
                    <a:pt x="699575" y="10291"/>
                    <a:pt x="717894" y="28610"/>
                  </a:cubicBezTo>
                  <a:cubicBezTo>
                    <a:pt x="736212" y="46928"/>
                    <a:pt x="746504" y="71773"/>
                    <a:pt x="746504" y="97680"/>
                  </a:cubicBezTo>
                  <a:lnTo>
                    <a:pt x="746504" y="97680"/>
                  </a:lnTo>
                  <a:cubicBezTo>
                    <a:pt x="746504" y="123586"/>
                    <a:pt x="736212" y="148431"/>
                    <a:pt x="717894" y="166750"/>
                  </a:cubicBezTo>
                  <a:cubicBezTo>
                    <a:pt x="699575" y="185068"/>
                    <a:pt x="674730" y="195359"/>
                    <a:pt x="648824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46504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5551721" y="3640155"/>
            <a:ext cx="2851701" cy="727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1C253F"/>
                </a:solidFill>
                <a:latin typeface="Muli Bold"/>
                <a:ea typeface="Muli Bold"/>
                <a:cs typeface="Muli Bold"/>
                <a:sym typeface="Muli Bold"/>
              </a:rPr>
              <a:t>2FN: Dependência Parcial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470834" y="3640155"/>
            <a:ext cx="2851701" cy="727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1C253F"/>
                </a:solidFill>
                <a:latin typeface="Muli Bold"/>
                <a:ea typeface="Muli Bold"/>
                <a:cs typeface="Muli Bold"/>
                <a:sym typeface="Muli Bold"/>
              </a:rPr>
              <a:t>3FN: Dependência Transitiva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514958" y="3798216"/>
            <a:ext cx="2851701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1C253F"/>
                </a:solidFill>
                <a:latin typeface="Muli Bold"/>
                <a:ea typeface="Muli Bold"/>
                <a:cs typeface="Muli Bold"/>
                <a:sym typeface="Muli Bold"/>
              </a:rPr>
              <a:t>BCNF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3038708" y="4840683"/>
            <a:ext cx="3628008" cy="1902047"/>
            <a:chOff x="0" y="0"/>
            <a:chExt cx="936910" cy="491192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36910" cy="491192"/>
            </a:xfrm>
            <a:custGeom>
              <a:avLst/>
              <a:gdLst/>
              <a:ahLst/>
              <a:cxnLst/>
              <a:rect r="r" b="b" t="t" l="l"/>
              <a:pathLst>
                <a:path h="491192" w="936910">
                  <a:moveTo>
                    <a:pt x="103362" y="0"/>
                  </a:moveTo>
                  <a:lnTo>
                    <a:pt x="833548" y="0"/>
                  </a:lnTo>
                  <a:cubicBezTo>
                    <a:pt x="860961" y="0"/>
                    <a:pt x="887252" y="10890"/>
                    <a:pt x="906636" y="30274"/>
                  </a:cubicBezTo>
                  <a:cubicBezTo>
                    <a:pt x="926020" y="49658"/>
                    <a:pt x="936910" y="75949"/>
                    <a:pt x="936910" y="103362"/>
                  </a:cubicBezTo>
                  <a:lnTo>
                    <a:pt x="936910" y="387830"/>
                  </a:lnTo>
                  <a:cubicBezTo>
                    <a:pt x="936910" y="415243"/>
                    <a:pt x="926020" y="441534"/>
                    <a:pt x="906636" y="460918"/>
                  </a:cubicBezTo>
                  <a:cubicBezTo>
                    <a:pt x="887252" y="480302"/>
                    <a:pt x="860961" y="491192"/>
                    <a:pt x="833548" y="491192"/>
                  </a:cubicBezTo>
                  <a:lnTo>
                    <a:pt x="103362" y="491192"/>
                  </a:lnTo>
                  <a:cubicBezTo>
                    <a:pt x="75949" y="491192"/>
                    <a:pt x="49658" y="480302"/>
                    <a:pt x="30274" y="460918"/>
                  </a:cubicBezTo>
                  <a:cubicBezTo>
                    <a:pt x="10890" y="441534"/>
                    <a:pt x="0" y="415243"/>
                    <a:pt x="0" y="387830"/>
                  </a:cubicBezTo>
                  <a:lnTo>
                    <a:pt x="0" y="103362"/>
                  </a:lnTo>
                  <a:cubicBezTo>
                    <a:pt x="0" y="75949"/>
                    <a:pt x="10890" y="49658"/>
                    <a:pt x="30274" y="30274"/>
                  </a:cubicBezTo>
                  <a:cubicBezTo>
                    <a:pt x="49658" y="10890"/>
                    <a:pt x="75949" y="0"/>
                    <a:pt x="103362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936910" cy="529292"/>
            </a:xfrm>
            <a:prstGeom prst="rect">
              <a:avLst/>
            </a:prstGeom>
          </p:spPr>
          <p:txBody>
            <a:bodyPr anchor="ctr" rtlCol="false" tIns="40476" lIns="40476" bIns="40476" rIns="40476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5186218" y="5403189"/>
            <a:ext cx="3105896" cy="653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7971" indent="-178985" lvl="1">
              <a:lnSpc>
                <a:spcPts val="2321"/>
              </a:lnSpc>
              <a:buFont typeface="Arial"/>
              <a:buChar char="•"/>
            </a:pPr>
            <a:r>
              <a:rPr lang="en-US" sz="165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PROGRESSO: id_aluno + id_aula;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343737" y="5424246"/>
            <a:ext cx="3105896" cy="367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7971" indent="-178985" lvl="1">
              <a:lnSpc>
                <a:spcPts val="2321"/>
              </a:lnSpc>
              <a:buFont typeface="Arial"/>
              <a:buChar char="•"/>
            </a:pPr>
            <a:r>
              <a:rPr lang="en-US" sz="165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Sem dependência transitiva;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3305408" y="5403189"/>
            <a:ext cx="3105896" cy="367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7971" indent="-178985" lvl="1">
              <a:lnSpc>
                <a:spcPts val="2321"/>
              </a:lnSpc>
              <a:buFont typeface="Arial"/>
              <a:buChar char="•"/>
            </a:pPr>
            <a:r>
              <a:rPr lang="en-US" sz="1658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Todo determinante é uma chave candidata;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020156" y="924062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9"/>
                </a:lnTo>
                <a:lnTo>
                  <a:pt x="0" y="208326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334877" y="648346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6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6" y="4071927"/>
                </a:lnTo>
                <a:lnTo>
                  <a:pt x="518416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019158">
            <a:off x="1405280" y="537765"/>
            <a:ext cx="7102946" cy="9345982"/>
          </a:xfrm>
          <a:custGeom>
            <a:avLst/>
            <a:gdLst/>
            <a:ahLst/>
            <a:cxnLst/>
            <a:rect r="r" b="b" t="t" l="l"/>
            <a:pathLst>
              <a:path h="9345982" w="7102946">
                <a:moveTo>
                  <a:pt x="0" y="0"/>
                </a:moveTo>
                <a:lnTo>
                  <a:pt x="7102946" y="0"/>
                </a:lnTo>
                <a:lnTo>
                  <a:pt x="7102946" y="9345982"/>
                </a:lnTo>
                <a:lnTo>
                  <a:pt x="0" y="93459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4609140" y="2761858"/>
            <a:ext cx="10369945" cy="5288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 b="tru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DDL-Data Definition Language </a:t>
            </a: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(</a:t>
            </a:r>
            <a:r>
              <a:rPr lang="en-US" sz="28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Responsável pela criacao e estrutura do banco de dados)</a:t>
            </a:r>
          </a:p>
          <a:p>
            <a:pPr algn="l">
              <a:lnSpc>
                <a:spcPts val="4059"/>
              </a:lnSpc>
            </a:pP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•Criação do banco de dados Destrava e das tabelas</a:t>
            </a: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•Criação das tabelas</a:t>
            </a: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•Chaves primárias e estrangeiras</a:t>
            </a: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•Restrições e relacionamentos </a:t>
            </a:r>
          </a:p>
          <a:p>
            <a:pPr algn="l">
              <a:lnSpc>
                <a:spcPts val="4059"/>
              </a:lnSpc>
            </a:pP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Comandos principais:CREATE DATABASE E CREATE TABLE</a:t>
            </a:r>
          </a:p>
          <a:p>
            <a:pPr algn="l">
              <a:lnSpc>
                <a:spcPts val="4059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59332" y="1367522"/>
            <a:ext cx="15569337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99"/>
              </a:lnSpc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DDL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334877" y="648346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5184166" y="0"/>
                </a:moveTo>
                <a:lnTo>
                  <a:pt x="0" y="0"/>
                </a:lnTo>
                <a:lnTo>
                  <a:pt x="0" y="4071927"/>
                </a:lnTo>
                <a:lnTo>
                  <a:pt x="5184166" y="4071927"/>
                </a:lnTo>
                <a:lnTo>
                  <a:pt x="518416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438711" y="-268392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16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353059" y="1367522"/>
            <a:ext cx="11581882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99"/>
              </a:lnSpc>
              <a:spcBef>
                <a:spcPct val="0"/>
              </a:spcBef>
            </a:pPr>
            <a:r>
              <a:rPr lang="en-US" b="true" sz="7499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DML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41175" y="2681972"/>
            <a:ext cx="10103566" cy="5602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3"/>
              </a:lnSpc>
            </a:pPr>
            <a:r>
              <a:rPr lang="en-US" sz="2795" b="true">
                <a:solidFill>
                  <a:srgbClr val="1C253F"/>
                </a:soli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DML-Data Manipulation Language </a:t>
            </a: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(Responsável pela inserção e manipulação dos dados)</a:t>
            </a:r>
          </a:p>
          <a:p>
            <a:pPr algn="l">
              <a:lnSpc>
                <a:spcPts val="3913"/>
              </a:lnSpc>
            </a:pP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•Insercao de trilhas,níveis e aulas</a:t>
            </a: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•Cadastro de usuários,alunos e administradores</a:t>
            </a: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 Inserção de trilhas,níveis e aulas </a:t>
            </a: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•Registro de progresso e conquistas </a:t>
            </a: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•Cadastro de chamados e mensagens </a:t>
            </a: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•Verificação dos dados inserirdos</a:t>
            </a:r>
          </a:p>
          <a:p>
            <a:pPr algn="l">
              <a:lnSpc>
                <a:spcPts val="3913"/>
              </a:lnSpc>
            </a:pPr>
          </a:p>
          <a:p>
            <a:pPr algn="l">
              <a:lnSpc>
                <a:spcPts val="3913"/>
              </a:lnSpc>
            </a:pPr>
            <a:r>
              <a:rPr lang="en-US" sz="2795">
                <a:solidFill>
                  <a:srgbClr val="1C253F"/>
                </a:solidFill>
                <a:latin typeface="Prachason Neue Mon"/>
                <a:ea typeface="Prachason Neue Mon"/>
                <a:cs typeface="Prachason Neue Mon"/>
                <a:sym typeface="Prachason Neue Mon"/>
              </a:rPr>
              <a:t>Comandos principais:INSERT INTO E SELECT 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944544" y="-81964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46423" y="44362"/>
            <a:ext cx="11097793" cy="1171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12"/>
              </a:lnSpc>
            </a:pPr>
            <a:r>
              <a:rPr lang="en-US" b="true" sz="5700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CONSULTAS DE VERIFICAÇÃO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42057" y="2032968"/>
            <a:ext cx="7737662" cy="2236500"/>
            <a:chOff x="0" y="0"/>
            <a:chExt cx="2691731" cy="7780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691731" cy="778020"/>
            </a:xfrm>
            <a:custGeom>
              <a:avLst/>
              <a:gdLst/>
              <a:ahLst/>
              <a:cxnLst/>
              <a:rect r="r" b="b" t="t" l="l"/>
              <a:pathLst>
                <a:path h="778020" w="2691731">
                  <a:moveTo>
                    <a:pt x="48464" y="0"/>
                  </a:moveTo>
                  <a:lnTo>
                    <a:pt x="2643267" y="0"/>
                  </a:lnTo>
                  <a:cubicBezTo>
                    <a:pt x="2670033" y="0"/>
                    <a:pt x="2691731" y="21698"/>
                    <a:pt x="2691731" y="48464"/>
                  </a:cubicBezTo>
                  <a:lnTo>
                    <a:pt x="2691731" y="729556"/>
                  </a:lnTo>
                  <a:cubicBezTo>
                    <a:pt x="2691731" y="756322"/>
                    <a:pt x="2670033" y="778020"/>
                    <a:pt x="2643267" y="778020"/>
                  </a:cubicBezTo>
                  <a:lnTo>
                    <a:pt x="48464" y="778020"/>
                  </a:lnTo>
                  <a:cubicBezTo>
                    <a:pt x="35611" y="778020"/>
                    <a:pt x="23284" y="772914"/>
                    <a:pt x="14195" y="763825"/>
                  </a:cubicBezTo>
                  <a:cubicBezTo>
                    <a:pt x="5106" y="754736"/>
                    <a:pt x="0" y="742409"/>
                    <a:pt x="0" y="729556"/>
                  </a:cubicBezTo>
                  <a:lnTo>
                    <a:pt x="0" y="48464"/>
                  </a:lnTo>
                  <a:cubicBezTo>
                    <a:pt x="0" y="21698"/>
                    <a:pt x="21698" y="0"/>
                    <a:pt x="4846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691731" cy="816120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SELECT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nome, faixa_etaria_min, faixa_etaria_max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FROM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trilha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WHERE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faixa_etaria_min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BETWEEN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6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AND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10;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42057" y="1485697"/>
            <a:ext cx="7930604" cy="438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1. Trilhas para usuários entre 6 e 10 anos de idade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543531" y="2032968"/>
            <a:ext cx="7715769" cy="2905702"/>
            <a:chOff x="0" y="0"/>
            <a:chExt cx="2684115" cy="101081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684115" cy="1010818"/>
            </a:xfrm>
            <a:custGeom>
              <a:avLst/>
              <a:gdLst/>
              <a:ahLst/>
              <a:cxnLst/>
              <a:rect r="r" b="b" t="t" l="l"/>
              <a:pathLst>
                <a:path h="1010818" w="2684115">
                  <a:moveTo>
                    <a:pt x="48602" y="0"/>
                  </a:moveTo>
                  <a:lnTo>
                    <a:pt x="2635513" y="0"/>
                  </a:lnTo>
                  <a:cubicBezTo>
                    <a:pt x="2648403" y="0"/>
                    <a:pt x="2660765" y="5121"/>
                    <a:pt x="2669880" y="14235"/>
                  </a:cubicBezTo>
                  <a:cubicBezTo>
                    <a:pt x="2678994" y="23350"/>
                    <a:pt x="2684115" y="35712"/>
                    <a:pt x="2684115" y="48602"/>
                  </a:cubicBezTo>
                  <a:lnTo>
                    <a:pt x="2684115" y="962216"/>
                  </a:lnTo>
                  <a:cubicBezTo>
                    <a:pt x="2684115" y="975106"/>
                    <a:pt x="2678994" y="987468"/>
                    <a:pt x="2669880" y="996583"/>
                  </a:cubicBezTo>
                  <a:cubicBezTo>
                    <a:pt x="2660765" y="1005697"/>
                    <a:pt x="2648403" y="1010818"/>
                    <a:pt x="2635513" y="1010818"/>
                  </a:cubicBezTo>
                  <a:lnTo>
                    <a:pt x="48602" y="1010818"/>
                  </a:lnTo>
                  <a:cubicBezTo>
                    <a:pt x="35712" y="1010818"/>
                    <a:pt x="23350" y="1005697"/>
                    <a:pt x="14235" y="996583"/>
                  </a:cubicBezTo>
                  <a:cubicBezTo>
                    <a:pt x="5121" y="987468"/>
                    <a:pt x="0" y="975106"/>
                    <a:pt x="0" y="962216"/>
                  </a:cubicBezTo>
                  <a:lnTo>
                    <a:pt x="0" y="48602"/>
                  </a:lnTo>
                  <a:cubicBezTo>
                    <a:pt x="0" y="35712"/>
                    <a:pt x="5121" y="23350"/>
                    <a:pt x="14235" y="14235"/>
                  </a:cubicBezTo>
                  <a:cubicBezTo>
                    <a:pt x="23350" y="5121"/>
                    <a:pt x="35712" y="0"/>
                    <a:pt x="4860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684115" cy="1048918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SELECT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p.id_usuario, p.id_aula, p.situacao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FROM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progresso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p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WHERE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p.situacao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IN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(</a:t>
              </a:r>
              <a:r>
                <a:rPr lang="en-US" sz="2200" b="true">
                  <a:solidFill>
                    <a:srgbClr val="84FF75"/>
                  </a:solidFill>
                  <a:latin typeface="Muli Bold"/>
                  <a:ea typeface="Muli Bold"/>
                  <a:cs typeface="Muli Bold"/>
                  <a:sym typeface="Muli Bold"/>
                </a:rPr>
                <a:t>'NAO_INICIADO',                     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84FF75"/>
                  </a:solidFill>
                  <a:latin typeface="Muli Bold"/>
                  <a:ea typeface="Muli Bold"/>
                  <a:cs typeface="Muli Bold"/>
                  <a:sym typeface="Muli Bold"/>
                </a:rPr>
                <a:t>    </a:t>
              </a:r>
              <a:r>
                <a:rPr lang="en-US" sz="2200" b="true">
                  <a:solidFill>
                    <a:srgbClr val="84FF75"/>
                  </a:solidFill>
                  <a:latin typeface="Muli Bold"/>
                  <a:ea typeface="Muli Bold"/>
                  <a:cs typeface="Muli Bold"/>
                  <a:sym typeface="Muli Bold"/>
                </a:rPr>
                <a:t>'EM_ANDAMENTO'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)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AND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p.data_conclusao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IS NULL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;</a:t>
              </a:r>
            </a:p>
            <a:p>
              <a:pPr algn="l">
                <a:lnSpc>
                  <a:spcPts val="3080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543531" y="1485697"/>
            <a:ext cx="4710410" cy="438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2</a:t>
            </a: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. Aulas ainda não concluídas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45586" y="6353061"/>
            <a:ext cx="7737662" cy="2905239"/>
            <a:chOff x="0" y="0"/>
            <a:chExt cx="2691731" cy="101065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691731" cy="1010657"/>
            </a:xfrm>
            <a:custGeom>
              <a:avLst/>
              <a:gdLst/>
              <a:ahLst/>
              <a:cxnLst/>
              <a:rect r="r" b="b" t="t" l="l"/>
              <a:pathLst>
                <a:path h="1010657" w="2691731">
                  <a:moveTo>
                    <a:pt x="48464" y="0"/>
                  </a:moveTo>
                  <a:lnTo>
                    <a:pt x="2643267" y="0"/>
                  </a:lnTo>
                  <a:cubicBezTo>
                    <a:pt x="2670033" y="0"/>
                    <a:pt x="2691731" y="21698"/>
                    <a:pt x="2691731" y="48464"/>
                  </a:cubicBezTo>
                  <a:lnTo>
                    <a:pt x="2691731" y="962193"/>
                  </a:lnTo>
                  <a:cubicBezTo>
                    <a:pt x="2691731" y="975046"/>
                    <a:pt x="2686625" y="987373"/>
                    <a:pt x="2677536" y="996462"/>
                  </a:cubicBezTo>
                  <a:cubicBezTo>
                    <a:pt x="2668447" y="1005551"/>
                    <a:pt x="2656120" y="1010657"/>
                    <a:pt x="2643267" y="1010657"/>
                  </a:cubicBezTo>
                  <a:lnTo>
                    <a:pt x="48464" y="1010657"/>
                  </a:lnTo>
                  <a:cubicBezTo>
                    <a:pt x="21698" y="1010657"/>
                    <a:pt x="0" y="988959"/>
                    <a:pt x="0" y="962193"/>
                  </a:cubicBezTo>
                  <a:lnTo>
                    <a:pt x="0" y="48464"/>
                  </a:lnTo>
                  <a:cubicBezTo>
                    <a:pt x="0" y="21698"/>
                    <a:pt x="21698" y="0"/>
                    <a:pt x="4846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691731" cy="1048757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SELECT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u.primeiro_nome, u.sobrenome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FROM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aluno al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JOIN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usuario u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ON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al.id_usuario = u.id_usuario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LEFT JOIN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chamado c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ON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al.id_usuario = c.id_usuario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WHERE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c.id_chamado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IS NULL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;</a:t>
              </a:r>
            </a:p>
            <a:p>
              <a:pPr algn="l">
                <a:lnSpc>
                  <a:spcPts val="3080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445586" y="5795758"/>
            <a:ext cx="6093470" cy="438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3</a:t>
            </a: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. Alunos que nunca abriram chamado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820858" y="6353061"/>
            <a:ext cx="7715769" cy="2905239"/>
            <a:chOff x="0" y="0"/>
            <a:chExt cx="2684115" cy="101065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684115" cy="1010657"/>
            </a:xfrm>
            <a:custGeom>
              <a:avLst/>
              <a:gdLst/>
              <a:ahLst/>
              <a:cxnLst/>
              <a:rect r="r" b="b" t="t" l="l"/>
              <a:pathLst>
                <a:path h="1010657" w="2684115">
                  <a:moveTo>
                    <a:pt x="48602" y="0"/>
                  </a:moveTo>
                  <a:lnTo>
                    <a:pt x="2635513" y="0"/>
                  </a:lnTo>
                  <a:cubicBezTo>
                    <a:pt x="2648403" y="0"/>
                    <a:pt x="2660765" y="5121"/>
                    <a:pt x="2669880" y="14235"/>
                  </a:cubicBezTo>
                  <a:cubicBezTo>
                    <a:pt x="2678994" y="23350"/>
                    <a:pt x="2684115" y="35712"/>
                    <a:pt x="2684115" y="48602"/>
                  </a:cubicBezTo>
                  <a:lnTo>
                    <a:pt x="2684115" y="962055"/>
                  </a:lnTo>
                  <a:cubicBezTo>
                    <a:pt x="2684115" y="974945"/>
                    <a:pt x="2678994" y="987307"/>
                    <a:pt x="2669880" y="996422"/>
                  </a:cubicBezTo>
                  <a:cubicBezTo>
                    <a:pt x="2660765" y="1005536"/>
                    <a:pt x="2648403" y="1010657"/>
                    <a:pt x="2635513" y="1010657"/>
                  </a:cubicBezTo>
                  <a:lnTo>
                    <a:pt x="48602" y="1010657"/>
                  </a:lnTo>
                  <a:cubicBezTo>
                    <a:pt x="35712" y="1010657"/>
                    <a:pt x="23350" y="1005536"/>
                    <a:pt x="14235" y="996422"/>
                  </a:cubicBezTo>
                  <a:cubicBezTo>
                    <a:pt x="5121" y="987307"/>
                    <a:pt x="0" y="974945"/>
                    <a:pt x="0" y="962055"/>
                  </a:cubicBezTo>
                  <a:lnTo>
                    <a:pt x="0" y="48602"/>
                  </a:lnTo>
                  <a:cubicBezTo>
                    <a:pt x="0" y="35712"/>
                    <a:pt x="5121" y="23350"/>
                    <a:pt x="14235" y="14235"/>
                  </a:cubicBezTo>
                  <a:cubicBezTo>
                    <a:pt x="23350" y="5121"/>
                    <a:pt x="35712" y="0"/>
                    <a:pt x="4860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684115" cy="1048757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l">
                <a:lnSpc>
                  <a:spcPts val="3080"/>
                </a:lnSpc>
              </a:pP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SELECT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p.id_usuario,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COUNT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(*)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AS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aulas_concluidas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FROM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progresso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p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WHERE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p.situacao =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84FF75"/>
                  </a:solidFill>
                  <a:latin typeface="Muli Bold"/>
                  <a:ea typeface="Muli Bold"/>
                  <a:cs typeface="Muli Bold"/>
                  <a:sym typeface="Muli Bold"/>
                </a:rPr>
                <a:t>'CONCLUIDO'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GR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OUP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 BY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p.id_usuario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HAVING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COUNT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(*) &gt; 1;</a:t>
              </a:r>
            </a:p>
            <a:p>
              <a:pPr algn="l">
                <a:lnSpc>
                  <a:spcPts val="3080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820858" y="5795758"/>
            <a:ext cx="6694884" cy="438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4</a:t>
            </a: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. Alunos com mais de uma aula concluída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42057" y="4374243"/>
            <a:ext cx="1461200" cy="512812"/>
            <a:chOff x="0" y="0"/>
            <a:chExt cx="3040821" cy="106718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040821" cy="1067184"/>
            </a:xfrm>
            <a:custGeom>
              <a:avLst/>
              <a:gdLst/>
              <a:ahLst/>
              <a:cxnLst/>
              <a:rect r="r" b="b" t="t" l="l"/>
              <a:pathLst>
                <a:path h="1067184" w="3040821">
                  <a:moveTo>
                    <a:pt x="256638" y="0"/>
                  </a:moveTo>
                  <a:lnTo>
                    <a:pt x="2784183" y="0"/>
                  </a:lnTo>
                  <a:cubicBezTo>
                    <a:pt x="2925920" y="0"/>
                    <a:pt x="3040821" y="114901"/>
                    <a:pt x="3040821" y="256638"/>
                  </a:cubicBezTo>
                  <a:lnTo>
                    <a:pt x="3040821" y="810546"/>
                  </a:lnTo>
                  <a:cubicBezTo>
                    <a:pt x="3040821" y="952283"/>
                    <a:pt x="2925920" y="1067184"/>
                    <a:pt x="2784183" y="1067184"/>
                  </a:cubicBezTo>
                  <a:lnTo>
                    <a:pt x="256638" y="1067184"/>
                  </a:lnTo>
                  <a:cubicBezTo>
                    <a:pt x="114901" y="1067184"/>
                    <a:pt x="0" y="952283"/>
                    <a:pt x="0" y="810546"/>
                  </a:cubicBezTo>
                  <a:lnTo>
                    <a:pt x="0" y="256638"/>
                  </a:lnTo>
                  <a:cubicBezTo>
                    <a:pt x="0" y="114901"/>
                    <a:pt x="114901" y="0"/>
                    <a:pt x="25663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67000"/>
                  </a:srgbClr>
                </a:gs>
                <a:gs pos="25000">
                  <a:srgbClr val="293C6F">
                    <a:alpha val="67000"/>
                  </a:srgbClr>
                </a:gs>
                <a:gs pos="50000">
                  <a:srgbClr val="555F7D">
                    <a:alpha val="67000"/>
                  </a:srgbClr>
                </a:gs>
                <a:gs pos="75000">
                  <a:srgbClr val="293C6F">
                    <a:alpha val="67000"/>
                  </a:srgbClr>
                </a:gs>
                <a:gs pos="100000">
                  <a:srgbClr val="222E51">
                    <a:alpha val="67000"/>
                  </a:srgbClr>
                </a:gs>
              </a:gsLst>
              <a:lin ang="2700000"/>
            </a:gradFill>
            <a:ln w="38100" cap="rnd">
              <a:solidFill>
                <a:srgbClr val="20316A">
                  <a:alpha val="66667"/>
                </a:srgbClr>
              </a:solidFill>
              <a:prstDash val="solid"/>
              <a:round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040821" cy="1086234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ctr">
                <a:lnSpc>
                  <a:spcPts val="2240"/>
                </a:lnSpc>
              </a:pPr>
              <a:r>
                <a:rPr lang="en-US" sz="1600" b="true">
                  <a:solidFill>
                    <a:srgbClr val="FFFFFF">
                      <a:alpha val="66667"/>
                    </a:srgbClr>
                  </a:solidFill>
                  <a:latin typeface="Muli Bold"/>
                  <a:ea typeface="Muli Bold"/>
                  <a:cs typeface="Muli Bold"/>
                  <a:sym typeface="Muli Bold"/>
                </a:rPr>
                <a:t>BETWEEN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543531" y="5042982"/>
            <a:ext cx="1461200" cy="512812"/>
            <a:chOff x="0" y="0"/>
            <a:chExt cx="3040821" cy="1067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40821" cy="1067184"/>
            </a:xfrm>
            <a:custGeom>
              <a:avLst/>
              <a:gdLst/>
              <a:ahLst/>
              <a:cxnLst/>
              <a:rect r="r" b="b" t="t" l="l"/>
              <a:pathLst>
                <a:path h="1067184" w="3040821">
                  <a:moveTo>
                    <a:pt x="256638" y="0"/>
                  </a:moveTo>
                  <a:lnTo>
                    <a:pt x="2784183" y="0"/>
                  </a:lnTo>
                  <a:cubicBezTo>
                    <a:pt x="2925920" y="0"/>
                    <a:pt x="3040821" y="114901"/>
                    <a:pt x="3040821" y="256638"/>
                  </a:cubicBezTo>
                  <a:lnTo>
                    <a:pt x="3040821" y="810546"/>
                  </a:lnTo>
                  <a:cubicBezTo>
                    <a:pt x="3040821" y="952283"/>
                    <a:pt x="2925920" y="1067184"/>
                    <a:pt x="2784183" y="1067184"/>
                  </a:cubicBezTo>
                  <a:lnTo>
                    <a:pt x="256638" y="1067184"/>
                  </a:lnTo>
                  <a:cubicBezTo>
                    <a:pt x="114901" y="1067184"/>
                    <a:pt x="0" y="952283"/>
                    <a:pt x="0" y="810546"/>
                  </a:cubicBezTo>
                  <a:lnTo>
                    <a:pt x="0" y="256638"/>
                  </a:lnTo>
                  <a:cubicBezTo>
                    <a:pt x="0" y="114901"/>
                    <a:pt x="114901" y="0"/>
                    <a:pt x="25663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67000"/>
                  </a:srgbClr>
                </a:gs>
                <a:gs pos="25000">
                  <a:srgbClr val="293C6F">
                    <a:alpha val="67000"/>
                  </a:srgbClr>
                </a:gs>
                <a:gs pos="50000">
                  <a:srgbClr val="555F7D">
                    <a:alpha val="67000"/>
                  </a:srgbClr>
                </a:gs>
                <a:gs pos="75000">
                  <a:srgbClr val="293C6F">
                    <a:alpha val="67000"/>
                  </a:srgbClr>
                </a:gs>
                <a:gs pos="100000">
                  <a:srgbClr val="222E51">
                    <a:alpha val="67000"/>
                  </a:srgbClr>
                </a:gs>
              </a:gsLst>
              <a:lin ang="2700000"/>
            </a:gradFill>
            <a:ln w="38100" cap="rnd">
              <a:solidFill>
                <a:srgbClr val="20316A">
                  <a:alpha val="66667"/>
                </a:srgbClr>
              </a:solidFill>
              <a:prstDash val="solid"/>
              <a:round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3040821" cy="1086234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ctr">
                <a:lnSpc>
                  <a:spcPts val="2240"/>
                </a:lnSpc>
              </a:pPr>
              <a:r>
                <a:rPr lang="en-US" sz="1600" b="true">
                  <a:solidFill>
                    <a:srgbClr val="FFFFFF">
                      <a:alpha val="66667"/>
                    </a:srgbClr>
                  </a:solidFill>
                  <a:latin typeface="Muli Bold"/>
                  <a:ea typeface="Muli Bold"/>
                  <a:cs typeface="Muli Bold"/>
                  <a:sym typeface="Muli Bold"/>
                </a:rPr>
                <a:t>IN + IS NULL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445586" y="9372600"/>
            <a:ext cx="1461200" cy="512812"/>
            <a:chOff x="0" y="0"/>
            <a:chExt cx="3040821" cy="106718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040821" cy="1067184"/>
            </a:xfrm>
            <a:custGeom>
              <a:avLst/>
              <a:gdLst/>
              <a:ahLst/>
              <a:cxnLst/>
              <a:rect r="r" b="b" t="t" l="l"/>
              <a:pathLst>
                <a:path h="1067184" w="3040821">
                  <a:moveTo>
                    <a:pt x="256638" y="0"/>
                  </a:moveTo>
                  <a:lnTo>
                    <a:pt x="2784183" y="0"/>
                  </a:lnTo>
                  <a:cubicBezTo>
                    <a:pt x="2925920" y="0"/>
                    <a:pt x="3040821" y="114901"/>
                    <a:pt x="3040821" y="256638"/>
                  </a:cubicBezTo>
                  <a:lnTo>
                    <a:pt x="3040821" y="810546"/>
                  </a:lnTo>
                  <a:cubicBezTo>
                    <a:pt x="3040821" y="952283"/>
                    <a:pt x="2925920" y="1067184"/>
                    <a:pt x="2784183" y="1067184"/>
                  </a:cubicBezTo>
                  <a:lnTo>
                    <a:pt x="256638" y="1067184"/>
                  </a:lnTo>
                  <a:cubicBezTo>
                    <a:pt x="114901" y="1067184"/>
                    <a:pt x="0" y="952283"/>
                    <a:pt x="0" y="810546"/>
                  </a:cubicBezTo>
                  <a:lnTo>
                    <a:pt x="0" y="256638"/>
                  </a:lnTo>
                  <a:cubicBezTo>
                    <a:pt x="0" y="114901"/>
                    <a:pt x="114901" y="0"/>
                    <a:pt x="25663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67000"/>
                  </a:srgbClr>
                </a:gs>
                <a:gs pos="25000">
                  <a:srgbClr val="293C6F">
                    <a:alpha val="67000"/>
                  </a:srgbClr>
                </a:gs>
                <a:gs pos="50000">
                  <a:srgbClr val="555F7D">
                    <a:alpha val="67000"/>
                  </a:srgbClr>
                </a:gs>
                <a:gs pos="75000">
                  <a:srgbClr val="293C6F">
                    <a:alpha val="67000"/>
                  </a:srgbClr>
                </a:gs>
                <a:gs pos="100000">
                  <a:srgbClr val="222E51">
                    <a:alpha val="67000"/>
                  </a:srgbClr>
                </a:gs>
              </a:gsLst>
              <a:lin ang="2700000"/>
            </a:gradFill>
            <a:ln w="38100" cap="rnd">
              <a:solidFill>
                <a:srgbClr val="20316A">
                  <a:alpha val="66667"/>
                </a:srgbClr>
              </a:solidFill>
              <a:prstDash val="solid"/>
              <a:round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3040821" cy="1086234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ctr">
                <a:lnSpc>
                  <a:spcPts val="2240"/>
                </a:lnSpc>
              </a:pPr>
              <a:r>
                <a:rPr lang="en-US" sz="1600" b="true">
                  <a:solidFill>
                    <a:srgbClr val="FFFFFF">
                      <a:alpha val="66667"/>
                    </a:srgbClr>
                  </a:solidFill>
                  <a:latin typeface="Muli Bold"/>
                  <a:ea typeface="Muli Bold"/>
                  <a:cs typeface="Muli Bold"/>
                  <a:sym typeface="Muli Bold"/>
                </a:rPr>
                <a:t>LEFT JOIN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8820858" y="9363075"/>
            <a:ext cx="2393647" cy="512812"/>
            <a:chOff x="0" y="0"/>
            <a:chExt cx="4981285" cy="106718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981285" cy="1067184"/>
            </a:xfrm>
            <a:custGeom>
              <a:avLst/>
              <a:gdLst/>
              <a:ahLst/>
              <a:cxnLst/>
              <a:rect r="r" b="b" t="t" l="l"/>
              <a:pathLst>
                <a:path h="1067184" w="4981285">
                  <a:moveTo>
                    <a:pt x="156664" y="0"/>
                  </a:moveTo>
                  <a:lnTo>
                    <a:pt x="4824621" y="0"/>
                  </a:lnTo>
                  <a:cubicBezTo>
                    <a:pt x="4866171" y="0"/>
                    <a:pt x="4906019" y="16506"/>
                    <a:pt x="4935399" y="45886"/>
                  </a:cubicBezTo>
                  <a:cubicBezTo>
                    <a:pt x="4964780" y="75266"/>
                    <a:pt x="4981285" y="115114"/>
                    <a:pt x="4981285" y="156664"/>
                  </a:cubicBezTo>
                  <a:lnTo>
                    <a:pt x="4981285" y="910520"/>
                  </a:lnTo>
                  <a:cubicBezTo>
                    <a:pt x="4981285" y="952070"/>
                    <a:pt x="4964780" y="991918"/>
                    <a:pt x="4935399" y="1021298"/>
                  </a:cubicBezTo>
                  <a:cubicBezTo>
                    <a:pt x="4906019" y="1050678"/>
                    <a:pt x="4866171" y="1067184"/>
                    <a:pt x="4824621" y="1067184"/>
                  </a:cubicBezTo>
                  <a:lnTo>
                    <a:pt x="156664" y="1067184"/>
                  </a:lnTo>
                  <a:cubicBezTo>
                    <a:pt x="115114" y="1067184"/>
                    <a:pt x="75266" y="1050678"/>
                    <a:pt x="45886" y="1021298"/>
                  </a:cubicBezTo>
                  <a:cubicBezTo>
                    <a:pt x="16506" y="991918"/>
                    <a:pt x="0" y="952070"/>
                    <a:pt x="0" y="910520"/>
                  </a:cubicBezTo>
                  <a:lnTo>
                    <a:pt x="0" y="156664"/>
                  </a:lnTo>
                  <a:cubicBezTo>
                    <a:pt x="0" y="115114"/>
                    <a:pt x="16506" y="75266"/>
                    <a:pt x="45886" y="45886"/>
                  </a:cubicBezTo>
                  <a:cubicBezTo>
                    <a:pt x="75266" y="16506"/>
                    <a:pt x="115114" y="0"/>
                    <a:pt x="15666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67000"/>
                  </a:srgbClr>
                </a:gs>
                <a:gs pos="25000">
                  <a:srgbClr val="293C6F">
                    <a:alpha val="67000"/>
                  </a:srgbClr>
                </a:gs>
                <a:gs pos="50000">
                  <a:srgbClr val="555F7D">
                    <a:alpha val="67000"/>
                  </a:srgbClr>
                </a:gs>
                <a:gs pos="75000">
                  <a:srgbClr val="293C6F">
                    <a:alpha val="67000"/>
                  </a:srgbClr>
                </a:gs>
                <a:gs pos="100000">
                  <a:srgbClr val="222E51">
                    <a:alpha val="67000"/>
                  </a:srgbClr>
                </a:gs>
              </a:gsLst>
              <a:lin ang="2700000"/>
            </a:gradFill>
            <a:ln w="38100" cap="rnd">
              <a:solidFill>
                <a:srgbClr val="20316A">
                  <a:alpha val="66667"/>
                </a:srgbClr>
              </a:solidFill>
              <a:prstDash val="solid"/>
              <a:round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4981285" cy="1086234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ctr">
                <a:lnSpc>
                  <a:spcPts val="2240"/>
                </a:lnSpc>
              </a:pPr>
              <a:r>
                <a:rPr lang="en-US" sz="1600" b="true">
                  <a:solidFill>
                    <a:srgbClr val="FFFFFF">
                      <a:alpha val="66667"/>
                    </a:srgbClr>
                  </a:solidFill>
                  <a:latin typeface="Muli Bold"/>
                  <a:ea typeface="Muli Bold"/>
                  <a:cs typeface="Muli Bold"/>
                  <a:sym typeface="Muli Bold"/>
                </a:rPr>
                <a:t>GROUP BY + HAVING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944544" y="-819645"/>
            <a:ext cx="5184166" cy="4071927"/>
          </a:xfrm>
          <a:custGeom>
            <a:avLst/>
            <a:gdLst/>
            <a:ahLst/>
            <a:cxnLst/>
            <a:rect r="r" b="b" t="t" l="l"/>
            <a:pathLst>
              <a:path h="4071927" w="5184166">
                <a:moveTo>
                  <a:pt x="0" y="4071927"/>
                </a:moveTo>
                <a:lnTo>
                  <a:pt x="5184166" y="4071927"/>
                </a:lnTo>
                <a:lnTo>
                  <a:pt x="5184166" y="0"/>
                </a:lnTo>
                <a:lnTo>
                  <a:pt x="0" y="0"/>
                </a:lnTo>
                <a:lnTo>
                  <a:pt x="0" y="4071927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6019158">
            <a:off x="-1201704" y="-52321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-1937411">
            <a:off x="-3254496" y="-4934445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0"/>
                </a:moveTo>
                <a:lnTo>
                  <a:pt x="0" y="0"/>
                </a:lnTo>
                <a:lnTo>
                  <a:pt x="0" y="8229600"/>
                </a:lnTo>
                <a:lnTo>
                  <a:pt x="10013894" y="8229600"/>
                </a:lnTo>
                <a:lnTo>
                  <a:pt x="10013894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6536627" y="8783577"/>
            <a:ext cx="3296246" cy="949447"/>
            <a:chOff x="0" y="0"/>
            <a:chExt cx="678240" cy="1953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8240" cy="195359"/>
            </a:xfrm>
            <a:custGeom>
              <a:avLst/>
              <a:gdLst/>
              <a:ahLst/>
              <a:cxnLst/>
              <a:rect r="r" b="b" t="t" l="l"/>
              <a:pathLst>
                <a:path h="195359" w="678240">
                  <a:moveTo>
                    <a:pt x="97680" y="0"/>
                  </a:moveTo>
                  <a:lnTo>
                    <a:pt x="580560" y="0"/>
                  </a:lnTo>
                  <a:cubicBezTo>
                    <a:pt x="606467" y="0"/>
                    <a:pt x="631312" y="10291"/>
                    <a:pt x="649630" y="28610"/>
                  </a:cubicBezTo>
                  <a:cubicBezTo>
                    <a:pt x="667949" y="46928"/>
                    <a:pt x="678240" y="71773"/>
                    <a:pt x="678240" y="97680"/>
                  </a:cubicBezTo>
                  <a:lnTo>
                    <a:pt x="678240" y="97680"/>
                  </a:lnTo>
                  <a:cubicBezTo>
                    <a:pt x="678240" y="123586"/>
                    <a:pt x="667949" y="148431"/>
                    <a:pt x="649630" y="166750"/>
                  </a:cubicBezTo>
                  <a:cubicBezTo>
                    <a:pt x="631312" y="185068"/>
                    <a:pt x="606467" y="195359"/>
                    <a:pt x="580560" y="195359"/>
                  </a:cubicBezTo>
                  <a:lnTo>
                    <a:pt x="97680" y="195359"/>
                  </a:lnTo>
                  <a:cubicBezTo>
                    <a:pt x="71773" y="195359"/>
                    <a:pt x="46928" y="185068"/>
                    <a:pt x="28610" y="166750"/>
                  </a:cubicBezTo>
                  <a:cubicBezTo>
                    <a:pt x="10291" y="148431"/>
                    <a:pt x="0" y="123586"/>
                    <a:pt x="0" y="97680"/>
                  </a:cubicBezTo>
                  <a:lnTo>
                    <a:pt x="0" y="97680"/>
                  </a:lnTo>
                  <a:cubicBezTo>
                    <a:pt x="0" y="71773"/>
                    <a:pt x="10291" y="46928"/>
                    <a:pt x="28610" y="28610"/>
                  </a:cubicBezTo>
                  <a:cubicBezTo>
                    <a:pt x="46928" y="10291"/>
                    <a:pt x="71773" y="0"/>
                    <a:pt x="9768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78240" cy="23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057178" y="8744267"/>
            <a:ext cx="1230822" cy="770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12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46423" y="44362"/>
            <a:ext cx="11097793" cy="1171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12"/>
              </a:lnSpc>
            </a:pPr>
            <a:r>
              <a:rPr lang="en-US" b="true" sz="5700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CONSULTAS DE VERIFICAÇÃO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732576" y="3252282"/>
            <a:ext cx="7737662" cy="5248389"/>
            <a:chOff x="0" y="0"/>
            <a:chExt cx="2691731" cy="182577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691731" cy="1825778"/>
            </a:xfrm>
            <a:custGeom>
              <a:avLst/>
              <a:gdLst/>
              <a:ahLst/>
              <a:cxnLst/>
              <a:rect r="r" b="b" t="t" l="l"/>
              <a:pathLst>
                <a:path h="1825778" w="2691731">
                  <a:moveTo>
                    <a:pt x="48464" y="0"/>
                  </a:moveTo>
                  <a:lnTo>
                    <a:pt x="2643267" y="0"/>
                  </a:lnTo>
                  <a:cubicBezTo>
                    <a:pt x="2670033" y="0"/>
                    <a:pt x="2691731" y="21698"/>
                    <a:pt x="2691731" y="48464"/>
                  </a:cubicBezTo>
                  <a:lnTo>
                    <a:pt x="2691731" y="1777313"/>
                  </a:lnTo>
                  <a:cubicBezTo>
                    <a:pt x="2691731" y="1790167"/>
                    <a:pt x="2686625" y="1802494"/>
                    <a:pt x="2677536" y="1811583"/>
                  </a:cubicBezTo>
                  <a:cubicBezTo>
                    <a:pt x="2668447" y="1820671"/>
                    <a:pt x="2656120" y="1825778"/>
                    <a:pt x="2643267" y="1825778"/>
                  </a:cubicBezTo>
                  <a:lnTo>
                    <a:pt x="48464" y="1825778"/>
                  </a:lnTo>
                  <a:cubicBezTo>
                    <a:pt x="21698" y="1825778"/>
                    <a:pt x="0" y="1804079"/>
                    <a:pt x="0" y="1777313"/>
                  </a:cubicBezTo>
                  <a:lnTo>
                    <a:pt x="0" y="48464"/>
                  </a:lnTo>
                  <a:cubicBezTo>
                    <a:pt x="0" y="21698"/>
                    <a:pt x="21698" y="0"/>
                    <a:pt x="4846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691731" cy="1863878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l">
                <a:lnSpc>
                  <a:spcPts val="3080"/>
                </a:lnSpc>
              </a:pP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SELECT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u.primeiro_nome, u.sobrenome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FROM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aluno al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JOIN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usuario u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ON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al.id_usuario = u.id_usuario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WHERE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al.id_usuario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IN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(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SELECT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c.id_usuario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FROM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chamado c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JOIN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mensagem_chamado mc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ON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mc.id_chamado = c.id_chamado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J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OIN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usuario adm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ON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mc.id_usuario = adm.id_usuario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WHERE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adm.tipo_perfil =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84FF75"/>
                  </a:solidFill>
                  <a:latin typeface="Muli Bold"/>
                  <a:ea typeface="Muli Bold"/>
                  <a:cs typeface="Muli Bold"/>
                  <a:sym typeface="Muli Bold"/>
                </a:rPr>
                <a:t>'ADMINISTRADOR'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);</a:t>
              </a:r>
            </a:p>
            <a:p>
              <a:pPr algn="l">
                <a:lnSpc>
                  <a:spcPts val="308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89821" y="2754138"/>
            <a:ext cx="8554179" cy="6029439"/>
            <a:chOff x="0" y="0"/>
            <a:chExt cx="2975776" cy="209748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975776" cy="2097484"/>
            </a:xfrm>
            <a:custGeom>
              <a:avLst/>
              <a:gdLst/>
              <a:ahLst/>
              <a:cxnLst/>
              <a:rect r="r" b="b" t="t" l="l"/>
              <a:pathLst>
                <a:path h="2097484" w="2975776">
                  <a:moveTo>
                    <a:pt x="43838" y="0"/>
                  </a:moveTo>
                  <a:lnTo>
                    <a:pt x="2931938" y="0"/>
                  </a:lnTo>
                  <a:cubicBezTo>
                    <a:pt x="2943564" y="0"/>
                    <a:pt x="2954715" y="4619"/>
                    <a:pt x="2962936" y="12840"/>
                  </a:cubicBezTo>
                  <a:cubicBezTo>
                    <a:pt x="2971157" y="21061"/>
                    <a:pt x="2975776" y="32212"/>
                    <a:pt x="2975776" y="43838"/>
                  </a:cubicBezTo>
                  <a:lnTo>
                    <a:pt x="2975776" y="2053646"/>
                  </a:lnTo>
                  <a:cubicBezTo>
                    <a:pt x="2975776" y="2065273"/>
                    <a:pt x="2971157" y="2076423"/>
                    <a:pt x="2962936" y="2084644"/>
                  </a:cubicBezTo>
                  <a:cubicBezTo>
                    <a:pt x="2954715" y="2092866"/>
                    <a:pt x="2943564" y="2097484"/>
                    <a:pt x="2931938" y="2097484"/>
                  </a:cubicBezTo>
                  <a:lnTo>
                    <a:pt x="43838" y="2097484"/>
                  </a:lnTo>
                  <a:cubicBezTo>
                    <a:pt x="32212" y="2097484"/>
                    <a:pt x="21061" y="2092866"/>
                    <a:pt x="12840" y="2084644"/>
                  </a:cubicBezTo>
                  <a:cubicBezTo>
                    <a:pt x="4619" y="2076423"/>
                    <a:pt x="0" y="2065273"/>
                    <a:pt x="0" y="2053646"/>
                  </a:cubicBezTo>
                  <a:lnTo>
                    <a:pt x="0" y="43838"/>
                  </a:lnTo>
                  <a:cubicBezTo>
                    <a:pt x="0" y="32212"/>
                    <a:pt x="4619" y="21061"/>
                    <a:pt x="12840" y="12840"/>
                  </a:cubicBezTo>
                  <a:cubicBezTo>
                    <a:pt x="21061" y="4619"/>
                    <a:pt x="32212" y="0"/>
                    <a:pt x="4383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100000"/>
                  </a:srgbClr>
                </a:gs>
                <a:gs pos="25000">
                  <a:srgbClr val="293C6F">
                    <a:alpha val="100000"/>
                  </a:srgbClr>
                </a:gs>
                <a:gs pos="50000">
                  <a:srgbClr val="555F7D">
                    <a:alpha val="100000"/>
                  </a:srgbClr>
                </a:gs>
                <a:gs pos="75000">
                  <a:srgbClr val="293C6F">
                    <a:alpha val="100000"/>
                  </a:srgbClr>
                </a:gs>
                <a:gs pos="100000">
                  <a:srgbClr val="222E51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D2A75A">
                      <a:alpha val="100000"/>
                    </a:srgbClr>
                  </a:gs>
                  <a:gs pos="16667">
                    <a:srgbClr val="D9B772">
                      <a:alpha val="100000"/>
                    </a:srgbClr>
                  </a:gs>
                  <a:gs pos="33333">
                    <a:srgbClr val="E4CA89">
                      <a:alpha val="100000"/>
                    </a:srgbClr>
                  </a:gs>
                  <a:gs pos="50000">
                    <a:srgbClr val="F6E7AD">
                      <a:alpha val="100000"/>
                    </a:srgbClr>
                  </a:gs>
                  <a:gs pos="66667">
                    <a:srgbClr val="D9B772">
                      <a:alpha val="100000"/>
                    </a:srgbClr>
                  </a:gs>
                  <a:gs pos="83333">
                    <a:srgbClr val="D2A75A">
                      <a:alpha val="100000"/>
                    </a:srgbClr>
                  </a:gs>
                  <a:gs pos="100000">
                    <a:srgbClr val="D2A75A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975776" cy="2135584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l">
                <a:lnSpc>
                  <a:spcPts val="3080"/>
                </a:lnSpc>
              </a:pP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JOIN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trilha t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ON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TIMESTAMPDIFF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(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YEAR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, al.dt_nascimento, CURDATE())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BETWEEN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t.faixa_etaria_min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AND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t.faixa_etaria_max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WHERE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NOT EXISTS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( -- existe aula Iniciante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SELECT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1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FROM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aula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 au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JOIN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nivel n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ON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au.id_nivel = n.id_nivel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WHERE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au.id_trilha = t.id_trilha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    AND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n.nome =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84FF75"/>
                  </a:solidFill>
                  <a:latin typeface="Muli Bold"/>
                  <a:ea typeface="Muli Bold"/>
                  <a:cs typeface="Muli Bold"/>
                  <a:sym typeface="Muli Bold"/>
                </a:rPr>
                <a:t>'Iniciante'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    AND </a:t>
              </a:r>
              <a:r>
                <a:rPr lang="en-US" sz="2200" b="true">
                  <a:solidFill>
                    <a:srgbClr val="DDA635"/>
                  </a:solidFill>
                  <a:latin typeface="Muli Bold"/>
                  <a:ea typeface="Muli Bold"/>
                  <a:cs typeface="Muli Bold"/>
                  <a:sym typeface="Muli Bold"/>
                </a:rPr>
                <a:t>NOT EXISTS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(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-- sem conclusão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         SELECT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1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FROM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progresso p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         WHERE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p.id_usuario = al.id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_usuario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               AND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p.id_aula = au.id_aula</a:t>
              </a:r>
            </a:p>
            <a:p>
              <a:pPr algn="l">
                <a:lnSpc>
                  <a:spcPts val="3080"/>
                </a:lnSpc>
              </a:pP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                          </a:t>
              </a:r>
              <a:r>
                <a:rPr lang="en-US" sz="2200" b="true">
                  <a:solidFill>
                    <a:srgbClr val="7EC5FF"/>
                  </a:solidFill>
                  <a:latin typeface="Muli Bold"/>
                  <a:ea typeface="Muli Bold"/>
                  <a:cs typeface="Muli Bold"/>
                  <a:sym typeface="Muli Bold"/>
                </a:rPr>
                <a:t>AND 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p.situacao = </a:t>
              </a:r>
              <a:r>
                <a:rPr lang="en-US" sz="2200" b="true">
                  <a:solidFill>
                    <a:srgbClr val="84FF75"/>
                  </a:solidFill>
                  <a:latin typeface="Muli Bold"/>
                  <a:ea typeface="Muli Bold"/>
                  <a:cs typeface="Muli Bold"/>
                  <a:sym typeface="Muli Bold"/>
                </a:rPr>
                <a:t>'CONCLUIDO'</a:t>
              </a:r>
              <a:r>
                <a:rPr lang="en-US" sz="2200" b="true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));</a:t>
              </a:r>
            </a:p>
            <a:p>
              <a:pPr algn="l">
                <a:lnSpc>
                  <a:spcPts val="3080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396472" y="2162996"/>
            <a:ext cx="6409870" cy="896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5</a:t>
            </a: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. Alunos com chamado respondido por administrador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64230" y="2162996"/>
            <a:ext cx="7146561" cy="438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4</a:t>
            </a:r>
            <a:r>
              <a:rPr lang="en-US" b="true" sz="2599">
                <a:solidFill>
                  <a:srgbClr val="20316A"/>
                </a:solidFill>
                <a:latin typeface="Muli Bold"/>
                <a:ea typeface="Muli Bold"/>
                <a:cs typeface="Muli Bold"/>
                <a:sym typeface="Muli Bold"/>
              </a:rPr>
              <a:t>. Alunos aptos a avançar para Intermediário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732576" y="8603690"/>
            <a:ext cx="2120550" cy="512812"/>
            <a:chOff x="0" y="0"/>
            <a:chExt cx="4412958" cy="106718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412959" cy="1067184"/>
            </a:xfrm>
            <a:custGeom>
              <a:avLst/>
              <a:gdLst/>
              <a:ahLst/>
              <a:cxnLst/>
              <a:rect r="r" b="b" t="t" l="l"/>
              <a:pathLst>
                <a:path h="1067184" w="4412959">
                  <a:moveTo>
                    <a:pt x="176841" y="0"/>
                  </a:moveTo>
                  <a:lnTo>
                    <a:pt x="4236118" y="0"/>
                  </a:lnTo>
                  <a:cubicBezTo>
                    <a:pt x="4333784" y="0"/>
                    <a:pt x="4412959" y="79174"/>
                    <a:pt x="4412959" y="176841"/>
                  </a:cubicBezTo>
                  <a:lnTo>
                    <a:pt x="4412959" y="890343"/>
                  </a:lnTo>
                  <a:cubicBezTo>
                    <a:pt x="4412959" y="988010"/>
                    <a:pt x="4333784" y="1067184"/>
                    <a:pt x="4236118" y="1067184"/>
                  </a:cubicBezTo>
                  <a:lnTo>
                    <a:pt x="176841" y="1067184"/>
                  </a:lnTo>
                  <a:cubicBezTo>
                    <a:pt x="79174" y="1067184"/>
                    <a:pt x="0" y="988010"/>
                    <a:pt x="0" y="890343"/>
                  </a:cubicBezTo>
                  <a:lnTo>
                    <a:pt x="0" y="176841"/>
                  </a:lnTo>
                  <a:cubicBezTo>
                    <a:pt x="0" y="79174"/>
                    <a:pt x="79174" y="0"/>
                    <a:pt x="17684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67000"/>
                  </a:srgbClr>
                </a:gs>
                <a:gs pos="25000">
                  <a:srgbClr val="293C6F">
                    <a:alpha val="67000"/>
                  </a:srgbClr>
                </a:gs>
                <a:gs pos="50000">
                  <a:srgbClr val="555F7D">
                    <a:alpha val="67000"/>
                  </a:srgbClr>
                </a:gs>
                <a:gs pos="75000">
                  <a:srgbClr val="293C6F">
                    <a:alpha val="67000"/>
                  </a:srgbClr>
                </a:gs>
                <a:gs pos="100000">
                  <a:srgbClr val="222E51">
                    <a:alpha val="67000"/>
                  </a:srgbClr>
                </a:gs>
              </a:gsLst>
              <a:lin ang="2700000"/>
            </a:gradFill>
            <a:ln w="38100" cap="rnd">
              <a:solidFill>
                <a:srgbClr val="20316A">
                  <a:alpha val="66667"/>
                </a:srgbClr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4412958" cy="1086234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ctr">
                <a:lnSpc>
                  <a:spcPts val="2240"/>
                </a:lnSpc>
              </a:pPr>
              <a:r>
                <a:rPr lang="en-US" sz="1600" b="true">
                  <a:solidFill>
                    <a:srgbClr val="FFFFFF">
                      <a:alpha val="66667"/>
                    </a:srgbClr>
                  </a:solidFill>
                  <a:latin typeface="Muli Bold"/>
                  <a:ea typeface="Muli Bold"/>
                  <a:cs typeface="Muli Bold"/>
                  <a:sym typeface="Muli Bold"/>
                </a:rPr>
                <a:t>Subconsulta com IN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64230" y="8860096"/>
            <a:ext cx="2035473" cy="512812"/>
            <a:chOff x="0" y="0"/>
            <a:chExt cx="4235908" cy="106718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235908" cy="1067184"/>
            </a:xfrm>
            <a:custGeom>
              <a:avLst/>
              <a:gdLst/>
              <a:ahLst/>
              <a:cxnLst/>
              <a:rect r="r" b="b" t="t" l="l"/>
              <a:pathLst>
                <a:path h="1067184" w="4235908">
                  <a:moveTo>
                    <a:pt x="184232" y="0"/>
                  </a:moveTo>
                  <a:lnTo>
                    <a:pt x="4051676" y="0"/>
                  </a:lnTo>
                  <a:cubicBezTo>
                    <a:pt x="4153425" y="0"/>
                    <a:pt x="4235908" y="82483"/>
                    <a:pt x="4235908" y="184232"/>
                  </a:cubicBezTo>
                  <a:lnTo>
                    <a:pt x="4235908" y="882952"/>
                  </a:lnTo>
                  <a:cubicBezTo>
                    <a:pt x="4235908" y="984700"/>
                    <a:pt x="4153425" y="1067184"/>
                    <a:pt x="4051676" y="1067184"/>
                  </a:cubicBezTo>
                  <a:lnTo>
                    <a:pt x="184232" y="1067184"/>
                  </a:lnTo>
                  <a:cubicBezTo>
                    <a:pt x="82483" y="1067184"/>
                    <a:pt x="0" y="984700"/>
                    <a:pt x="0" y="882952"/>
                  </a:cubicBezTo>
                  <a:lnTo>
                    <a:pt x="0" y="184232"/>
                  </a:lnTo>
                  <a:cubicBezTo>
                    <a:pt x="0" y="82483"/>
                    <a:pt x="82483" y="0"/>
                    <a:pt x="18423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C253F">
                    <a:alpha val="67000"/>
                  </a:srgbClr>
                </a:gs>
                <a:gs pos="25000">
                  <a:srgbClr val="293C6F">
                    <a:alpha val="67000"/>
                  </a:srgbClr>
                </a:gs>
                <a:gs pos="50000">
                  <a:srgbClr val="555F7D">
                    <a:alpha val="67000"/>
                  </a:srgbClr>
                </a:gs>
                <a:gs pos="75000">
                  <a:srgbClr val="293C6F">
                    <a:alpha val="67000"/>
                  </a:srgbClr>
                </a:gs>
                <a:gs pos="100000">
                  <a:srgbClr val="222E51">
                    <a:alpha val="67000"/>
                  </a:srgbClr>
                </a:gs>
              </a:gsLst>
              <a:lin ang="2700000"/>
            </a:gradFill>
            <a:ln w="38100" cap="rnd">
              <a:solidFill>
                <a:srgbClr val="20316A">
                  <a:alpha val="66667"/>
                </a:srgbClr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235908" cy="1086234"/>
            </a:xfrm>
            <a:prstGeom prst="rect">
              <a:avLst/>
            </a:prstGeom>
          </p:spPr>
          <p:txBody>
            <a:bodyPr anchor="ctr" rtlCol="false" tIns="30047" lIns="30047" bIns="30047" rIns="30047"/>
            <a:lstStyle/>
            <a:p>
              <a:pPr algn="ctr">
                <a:lnSpc>
                  <a:spcPts val="2240"/>
                </a:lnSpc>
              </a:pPr>
              <a:r>
                <a:rPr lang="en-US" sz="1600" b="true">
                  <a:solidFill>
                    <a:srgbClr val="FFFFFF">
                      <a:alpha val="66667"/>
                    </a:srgbClr>
                  </a:solidFill>
                  <a:latin typeface="Muli Bold"/>
                  <a:ea typeface="Muli Bold"/>
                  <a:cs typeface="Muli Bold"/>
                  <a:sym typeface="Muli Bold"/>
                </a:rPr>
                <a:t>Duplo NOT EXISTS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2309" y="-5272809"/>
            <a:ext cx="20832618" cy="20832618"/>
          </a:xfrm>
          <a:custGeom>
            <a:avLst/>
            <a:gdLst/>
            <a:ahLst/>
            <a:cxnLst/>
            <a:rect r="r" b="b" t="t" l="l"/>
            <a:pathLst>
              <a:path h="20832618" w="20832618">
                <a:moveTo>
                  <a:pt x="0" y="0"/>
                </a:moveTo>
                <a:lnTo>
                  <a:pt x="20832618" y="0"/>
                </a:lnTo>
                <a:lnTo>
                  <a:pt x="20832618" y="20832618"/>
                </a:lnTo>
                <a:lnTo>
                  <a:pt x="0" y="208326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322692" y="5459112"/>
            <a:ext cx="6400206" cy="5027071"/>
          </a:xfrm>
          <a:custGeom>
            <a:avLst/>
            <a:gdLst/>
            <a:ahLst/>
            <a:cxnLst/>
            <a:rect r="r" b="b" t="t" l="l"/>
            <a:pathLst>
              <a:path h="5027071" w="6400206">
                <a:moveTo>
                  <a:pt x="0" y="0"/>
                </a:moveTo>
                <a:lnTo>
                  <a:pt x="6400206" y="0"/>
                </a:lnTo>
                <a:lnTo>
                  <a:pt x="6400206" y="5027071"/>
                </a:lnTo>
                <a:lnTo>
                  <a:pt x="0" y="5027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0">
            <a:off x="-434898" y="-199183"/>
            <a:ext cx="6400206" cy="5027071"/>
          </a:xfrm>
          <a:custGeom>
            <a:avLst/>
            <a:gdLst/>
            <a:ahLst/>
            <a:cxnLst/>
            <a:rect r="r" b="b" t="t" l="l"/>
            <a:pathLst>
              <a:path h="5027071" w="6400206">
                <a:moveTo>
                  <a:pt x="6400206" y="5027071"/>
                </a:moveTo>
                <a:lnTo>
                  <a:pt x="0" y="5027071"/>
                </a:lnTo>
                <a:lnTo>
                  <a:pt x="0" y="0"/>
                </a:lnTo>
                <a:lnTo>
                  <a:pt x="6400206" y="0"/>
                </a:lnTo>
                <a:lnTo>
                  <a:pt x="6400206" y="5027071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700000">
            <a:off x="11543453" y="-479288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0" y="0"/>
                </a:moveTo>
                <a:lnTo>
                  <a:pt x="8344070" y="0"/>
                </a:lnTo>
                <a:lnTo>
                  <a:pt x="8344070" y="10979040"/>
                </a:lnTo>
                <a:lnTo>
                  <a:pt x="0" y="109790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-2700000">
            <a:off x="-1599523" y="4100849"/>
            <a:ext cx="8344070" cy="10979040"/>
          </a:xfrm>
          <a:custGeom>
            <a:avLst/>
            <a:gdLst/>
            <a:ahLst/>
            <a:cxnLst/>
            <a:rect r="r" b="b" t="t" l="l"/>
            <a:pathLst>
              <a:path h="10979040" w="8344070">
                <a:moveTo>
                  <a:pt x="8344070" y="10979040"/>
                </a:moveTo>
                <a:lnTo>
                  <a:pt x="0" y="10979040"/>
                </a:lnTo>
                <a:lnTo>
                  <a:pt x="0" y="0"/>
                </a:lnTo>
                <a:lnTo>
                  <a:pt x="8344070" y="0"/>
                </a:lnTo>
                <a:lnTo>
                  <a:pt x="8344070" y="1097904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1381747">
            <a:off x="10901233" y="-5032500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0" y="0"/>
                </a:moveTo>
                <a:lnTo>
                  <a:pt x="10013894" y="0"/>
                </a:lnTo>
                <a:lnTo>
                  <a:pt x="1001389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1381747">
            <a:off x="-2627127" y="7089900"/>
            <a:ext cx="10013894" cy="8229600"/>
          </a:xfrm>
          <a:custGeom>
            <a:avLst/>
            <a:gdLst/>
            <a:ahLst/>
            <a:cxnLst/>
            <a:rect r="r" b="b" t="t" l="l"/>
            <a:pathLst>
              <a:path h="8229600" w="10013894">
                <a:moveTo>
                  <a:pt x="10013894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10013894" y="0"/>
                </a:lnTo>
                <a:lnTo>
                  <a:pt x="10013894" y="822960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537475" y="2622234"/>
            <a:ext cx="9213050" cy="3720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31"/>
              </a:lnSpc>
            </a:pPr>
            <a:r>
              <a:rPr lang="en-US" b="true" sz="9165">
                <a:gradFill>
                  <a:gsLst>
                    <a:gs pos="0">
                      <a:srgbClr val="1C253F">
                        <a:alpha val="100000"/>
                      </a:srgbClr>
                    </a:gs>
                    <a:gs pos="25000">
                      <a:srgbClr val="293C6F">
                        <a:alpha val="100000"/>
                      </a:srgbClr>
                    </a:gs>
                    <a:gs pos="50000">
                      <a:srgbClr val="555F7D">
                        <a:alpha val="100000"/>
                      </a:srgbClr>
                    </a:gs>
                    <a:gs pos="75000">
                      <a:srgbClr val="293C6F">
                        <a:alpha val="100000"/>
                      </a:srgbClr>
                    </a:gs>
                    <a:gs pos="100000">
                      <a:srgbClr val="222E51">
                        <a:alpha val="100000"/>
                      </a:srgbClr>
                    </a:gs>
                  </a:gsLst>
                  <a:lin ang="2700000"/>
                </a:gradFill>
                <a:latin typeface="Prachason Neue Mon Bold"/>
                <a:ea typeface="Prachason Neue Mon Bold"/>
                <a:cs typeface="Prachason Neue Mon Bold"/>
                <a:sym typeface="Prachason Neue Mon Bold"/>
              </a:rPr>
              <a:t>OBRIGADA PELA ATENÇÃO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DAHWkuYMHUc</dc:identifier>
  <dcterms:modified xsi:type="dcterms:W3CDTF">2011-08-01T06:04:30Z</dcterms:modified>
  <cp:revision>1</cp:revision>
  <dc:title>Destrava banco de dados</dc:title>
</cp:coreProperties>
</file>