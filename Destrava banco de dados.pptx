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rachason Neue Mon Bold" charset="1" panose="00000000000000000000"/>
      <p:regular r:id="rId20"/>
    </p:embeddedFont>
    <p:embeddedFont>
      <p:font typeface="Prachason Neue Mon" charset="1" panose="00000000000000000000"/>
      <p:regular r:id="rId21"/>
    </p:embeddedFont>
    <p:embeddedFont>
      <p:font typeface="Muli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22692" y="5459112"/>
            <a:ext cx="6400206" cy="5027071"/>
          </a:xfrm>
          <a:custGeom>
            <a:avLst/>
            <a:gdLst/>
            <a:ahLst/>
            <a:cxnLst/>
            <a:rect r="r" b="b" t="t" l="l"/>
            <a:pathLst>
              <a:path h="5027071" w="6400206">
                <a:moveTo>
                  <a:pt x="0" y="0"/>
                </a:moveTo>
                <a:lnTo>
                  <a:pt x="6400206" y="0"/>
                </a:lnTo>
                <a:lnTo>
                  <a:pt x="6400206" y="5027071"/>
                </a:lnTo>
                <a:lnTo>
                  <a:pt x="0" y="5027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434898" y="-199183"/>
            <a:ext cx="6400206" cy="5027071"/>
          </a:xfrm>
          <a:custGeom>
            <a:avLst/>
            <a:gdLst/>
            <a:ahLst/>
            <a:cxnLst/>
            <a:rect r="r" b="b" t="t" l="l"/>
            <a:pathLst>
              <a:path h="5027071" w="6400206">
                <a:moveTo>
                  <a:pt x="6400206" y="5027071"/>
                </a:moveTo>
                <a:lnTo>
                  <a:pt x="0" y="5027071"/>
                </a:lnTo>
                <a:lnTo>
                  <a:pt x="0" y="0"/>
                </a:lnTo>
                <a:lnTo>
                  <a:pt x="6400206" y="0"/>
                </a:lnTo>
                <a:lnTo>
                  <a:pt x="6400206" y="5027071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1543453" y="-479288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700000">
            <a:off x="-1599523" y="410084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8344070" y="10979040"/>
                </a:moveTo>
                <a:lnTo>
                  <a:pt x="0" y="10979040"/>
                </a:lnTo>
                <a:lnTo>
                  <a:pt x="0" y="0"/>
                </a:lnTo>
                <a:lnTo>
                  <a:pt x="8344070" y="0"/>
                </a:lnTo>
                <a:lnTo>
                  <a:pt x="8344070" y="1097904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381747">
            <a:off x="10901233" y="-5032500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0" y="0"/>
                </a:moveTo>
                <a:lnTo>
                  <a:pt x="10013894" y="0"/>
                </a:lnTo>
                <a:lnTo>
                  <a:pt x="100138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1381747">
            <a:off x="-2627127" y="7089900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013894" y="0"/>
                </a:lnTo>
                <a:lnTo>
                  <a:pt x="10013894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705178" y="5764164"/>
            <a:ext cx="4877644" cy="760749"/>
            <a:chOff x="0" y="0"/>
            <a:chExt cx="1003631" cy="1565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3631" cy="156533"/>
            </a:xfrm>
            <a:custGeom>
              <a:avLst/>
              <a:gdLst/>
              <a:ahLst/>
              <a:cxnLst/>
              <a:rect r="r" b="b" t="t" l="l"/>
              <a:pathLst>
                <a:path h="156533" w="1003631">
                  <a:moveTo>
                    <a:pt x="52081" y="0"/>
                  </a:moveTo>
                  <a:lnTo>
                    <a:pt x="951550" y="0"/>
                  </a:lnTo>
                  <a:cubicBezTo>
                    <a:pt x="980313" y="0"/>
                    <a:pt x="1003631" y="23317"/>
                    <a:pt x="1003631" y="52081"/>
                  </a:cubicBezTo>
                  <a:lnTo>
                    <a:pt x="1003631" y="104452"/>
                  </a:lnTo>
                  <a:cubicBezTo>
                    <a:pt x="1003631" y="118264"/>
                    <a:pt x="998143" y="131511"/>
                    <a:pt x="988376" y="141279"/>
                  </a:cubicBezTo>
                  <a:cubicBezTo>
                    <a:pt x="978609" y="151046"/>
                    <a:pt x="965362" y="156533"/>
                    <a:pt x="951550" y="156533"/>
                  </a:cubicBezTo>
                  <a:lnTo>
                    <a:pt x="52081" y="156533"/>
                  </a:lnTo>
                  <a:cubicBezTo>
                    <a:pt x="38268" y="156533"/>
                    <a:pt x="25021" y="151046"/>
                    <a:pt x="15254" y="141279"/>
                  </a:cubicBezTo>
                  <a:cubicBezTo>
                    <a:pt x="5487" y="131511"/>
                    <a:pt x="0" y="118264"/>
                    <a:pt x="0" y="104452"/>
                  </a:cubicBezTo>
                  <a:lnTo>
                    <a:pt x="0" y="52081"/>
                  </a:lnTo>
                  <a:cubicBezTo>
                    <a:pt x="0" y="38268"/>
                    <a:pt x="5487" y="25021"/>
                    <a:pt x="15254" y="15254"/>
                  </a:cubicBezTo>
                  <a:cubicBezTo>
                    <a:pt x="25021" y="5487"/>
                    <a:pt x="38268" y="0"/>
                    <a:pt x="5208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03631" cy="194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58097" y="2638560"/>
            <a:ext cx="13971805" cy="28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b="true" sz="12500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DESTRAVA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05178" y="5630506"/>
            <a:ext cx="4877644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Banco de Dados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7203" y="-4319245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700000">
            <a:off x="11543453" y="-479288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381747">
            <a:off x="10901233" y="-5032500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0" y="0"/>
                </a:moveTo>
                <a:lnTo>
                  <a:pt x="10013894" y="0"/>
                </a:lnTo>
                <a:lnTo>
                  <a:pt x="100138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88788" y="1222438"/>
            <a:ext cx="7389897" cy="174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59"/>
              </a:lnSpc>
            </a:pPr>
            <a:r>
              <a:rPr lang="en-US" b="true" sz="84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INTRODUÇÃO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23459" y="3157041"/>
            <a:ext cx="11320556" cy="437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   O Destrava é uma plataforma educacional voltado ao ensino de informática básica e inclusão digital, levando em consideração  a dificuldade e idade de cada aluno.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   O banco de dados será responsável por organizar e armazenar as informações do sistema, gerenciando atributos como o cadastro dos alunos e administradores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4350356" y="-665635"/>
            <a:ext cx="4372543" cy="2345273"/>
          </a:xfrm>
          <a:custGeom>
            <a:avLst/>
            <a:gdLst/>
            <a:ahLst/>
            <a:cxnLst/>
            <a:rect r="r" b="b" t="t" l="l"/>
            <a:pathLst>
              <a:path h="2345273" w="4372543">
                <a:moveTo>
                  <a:pt x="4372542" y="0"/>
                </a:moveTo>
                <a:lnTo>
                  <a:pt x="0" y="0"/>
                </a:lnTo>
                <a:lnTo>
                  <a:pt x="0" y="2345273"/>
                </a:lnTo>
                <a:lnTo>
                  <a:pt x="4372542" y="2345273"/>
                </a:lnTo>
                <a:lnTo>
                  <a:pt x="437254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567806" y="-665635"/>
            <a:ext cx="7449642" cy="11188758"/>
            <a:chOff x="0" y="0"/>
            <a:chExt cx="9932856" cy="14918344"/>
          </a:xfrm>
        </p:grpSpPr>
        <p:sp>
          <p:nvSpPr>
            <p:cNvPr name="Freeform 12" id="12"/>
            <p:cNvSpPr/>
            <p:nvPr/>
          </p:nvSpPr>
          <p:spPr>
            <a:xfrm flipH="true" flipV="false" rot="5400000">
              <a:off x="-1356571" y="1356571"/>
              <a:ext cx="12645997" cy="9932856"/>
            </a:xfrm>
            <a:custGeom>
              <a:avLst/>
              <a:gdLst/>
              <a:ahLst/>
              <a:cxnLst/>
              <a:rect r="r" b="b" t="t" l="l"/>
              <a:pathLst>
                <a:path h="9932856" w="12645997">
                  <a:moveTo>
                    <a:pt x="12645997" y="0"/>
                  </a:moveTo>
                  <a:lnTo>
                    <a:pt x="0" y="0"/>
                  </a:lnTo>
                  <a:lnTo>
                    <a:pt x="0" y="9932855"/>
                  </a:lnTo>
                  <a:lnTo>
                    <a:pt x="12645997" y="9932855"/>
                  </a:lnTo>
                  <a:lnTo>
                    <a:pt x="12645997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-1356571" y="3628918"/>
              <a:ext cx="12645997" cy="9932856"/>
            </a:xfrm>
            <a:custGeom>
              <a:avLst/>
              <a:gdLst/>
              <a:ahLst/>
              <a:cxnLst/>
              <a:rect r="r" b="b" t="t" l="l"/>
              <a:pathLst>
                <a:path h="9932856" w="12645997">
                  <a:moveTo>
                    <a:pt x="0" y="0"/>
                  </a:moveTo>
                  <a:lnTo>
                    <a:pt x="12645997" y="0"/>
                  </a:lnTo>
                  <a:lnTo>
                    <a:pt x="12645997" y="9932856"/>
                  </a:lnTo>
                  <a:lnTo>
                    <a:pt x="0" y="9932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-334877" y="6483465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5184166" y="0"/>
                </a:moveTo>
                <a:lnTo>
                  <a:pt x="0" y="0"/>
                </a:lnTo>
                <a:lnTo>
                  <a:pt x="0" y="4071927"/>
                </a:lnTo>
                <a:lnTo>
                  <a:pt x="5184166" y="4071927"/>
                </a:lnTo>
                <a:lnTo>
                  <a:pt x="518416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3438711" y="-268392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0" y="4071927"/>
                </a:moveTo>
                <a:lnTo>
                  <a:pt x="5184166" y="4071927"/>
                </a:lnTo>
                <a:lnTo>
                  <a:pt x="5184166" y="0"/>
                </a:lnTo>
                <a:lnTo>
                  <a:pt x="0" y="0"/>
                </a:lnTo>
                <a:lnTo>
                  <a:pt x="0" y="407192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53059" y="4108450"/>
            <a:ext cx="11581882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MODELAGEM CONCEITUAL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250" y="687320"/>
            <a:ext cx="18184750" cy="8096256"/>
          </a:xfrm>
          <a:custGeom>
            <a:avLst/>
            <a:gdLst/>
            <a:ahLst/>
            <a:cxnLst/>
            <a:rect r="r" b="b" t="t" l="l"/>
            <a:pathLst>
              <a:path h="8096256" w="18184750">
                <a:moveTo>
                  <a:pt x="0" y="0"/>
                </a:moveTo>
                <a:lnTo>
                  <a:pt x="18184750" y="0"/>
                </a:lnTo>
                <a:lnTo>
                  <a:pt x="18184750" y="8096257"/>
                </a:lnTo>
                <a:lnTo>
                  <a:pt x="0" y="80962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48" t="0" r="-25789" b="-11945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0663" y="258613"/>
            <a:ext cx="16388637" cy="9256545"/>
          </a:xfrm>
          <a:custGeom>
            <a:avLst/>
            <a:gdLst/>
            <a:ahLst/>
            <a:cxnLst/>
            <a:rect r="r" b="b" t="t" l="l"/>
            <a:pathLst>
              <a:path h="9256545" w="16388637">
                <a:moveTo>
                  <a:pt x="0" y="0"/>
                </a:moveTo>
                <a:lnTo>
                  <a:pt x="16388637" y="0"/>
                </a:lnTo>
                <a:lnTo>
                  <a:pt x="16388637" y="9256545"/>
                </a:lnTo>
                <a:lnTo>
                  <a:pt x="0" y="9256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739" t="-75584" r="-29722" b="-30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724279" y="6692966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5184167" y="0"/>
                </a:moveTo>
                <a:lnTo>
                  <a:pt x="0" y="0"/>
                </a:lnTo>
                <a:lnTo>
                  <a:pt x="0" y="4071927"/>
                </a:lnTo>
                <a:lnTo>
                  <a:pt x="5184167" y="4071927"/>
                </a:lnTo>
                <a:lnTo>
                  <a:pt x="518416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599026" y="-500030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0" y="4071927"/>
                </a:moveTo>
                <a:lnTo>
                  <a:pt x="5184167" y="4071927"/>
                </a:lnTo>
                <a:lnTo>
                  <a:pt x="5184167" y="0"/>
                </a:lnTo>
                <a:lnTo>
                  <a:pt x="0" y="0"/>
                </a:lnTo>
                <a:lnTo>
                  <a:pt x="0" y="407192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019158">
            <a:off x="-1201704" y="-523214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9332" y="1135883"/>
            <a:ext cx="15569337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b="true" sz="74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AJUSTES PÓS FEEDBACK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658497" y="2898479"/>
            <a:ext cx="12321660" cy="1346836"/>
            <a:chOff x="0" y="0"/>
            <a:chExt cx="2862808" cy="3129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62808" cy="312923"/>
            </a:xfrm>
            <a:custGeom>
              <a:avLst/>
              <a:gdLst/>
              <a:ahLst/>
              <a:cxnLst/>
              <a:rect r="r" b="b" t="t" l="l"/>
              <a:pathLst>
                <a:path h="312923" w="2862808">
                  <a:moveTo>
                    <a:pt x="49087" y="0"/>
                  </a:moveTo>
                  <a:lnTo>
                    <a:pt x="2813721" y="0"/>
                  </a:lnTo>
                  <a:cubicBezTo>
                    <a:pt x="2826740" y="0"/>
                    <a:pt x="2839225" y="5172"/>
                    <a:pt x="2848431" y="14377"/>
                  </a:cubicBezTo>
                  <a:cubicBezTo>
                    <a:pt x="2857637" y="23583"/>
                    <a:pt x="2862808" y="36069"/>
                    <a:pt x="2862808" y="49087"/>
                  </a:cubicBezTo>
                  <a:lnTo>
                    <a:pt x="2862808" y="263836"/>
                  </a:lnTo>
                  <a:cubicBezTo>
                    <a:pt x="2862808" y="290946"/>
                    <a:pt x="2840831" y="312923"/>
                    <a:pt x="2813721" y="312923"/>
                  </a:cubicBezTo>
                  <a:lnTo>
                    <a:pt x="49087" y="312923"/>
                  </a:lnTo>
                  <a:cubicBezTo>
                    <a:pt x="36069" y="312923"/>
                    <a:pt x="23583" y="307752"/>
                    <a:pt x="14377" y="298546"/>
                  </a:cubicBezTo>
                  <a:cubicBezTo>
                    <a:pt x="5172" y="289340"/>
                    <a:pt x="0" y="276855"/>
                    <a:pt x="0" y="263836"/>
                  </a:cubicBezTo>
                  <a:lnTo>
                    <a:pt x="0" y="49087"/>
                  </a:lnTo>
                  <a:cubicBezTo>
                    <a:pt x="0" y="21977"/>
                    <a:pt x="21977" y="0"/>
                    <a:pt x="4908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62808" cy="351023"/>
            </a:xfrm>
            <a:prstGeom prst="rect">
              <a:avLst/>
            </a:prstGeom>
          </p:spPr>
          <p:txBody>
            <a:bodyPr anchor="ctr" rtlCol="false" tIns="44989" lIns="44989" bIns="44989" rIns="4498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89359" y="4854915"/>
            <a:ext cx="12321660" cy="1588975"/>
            <a:chOff x="0" y="0"/>
            <a:chExt cx="2862808" cy="3691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62808" cy="369182"/>
            </a:xfrm>
            <a:custGeom>
              <a:avLst/>
              <a:gdLst/>
              <a:ahLst/>
              <a:cxnLst/>
              <a:rect r="r" b="b" t="t" l="l"/>
              <a:pathLst>
                <a:path h="369182" w="2862808">
                  <a:moveTo>
                    <a:pt x="49087" y="0"/>
                  </a:moveTo>
                  <a:lnTo>
                    <a:pt x="2813721" y="0"/>
                  </a:lnTo>
                  <a:cubicBezTo>
                    <a:pt x="2826740" y="0"/>
                    <a:pt x="2839225" y="5172"/>
                    <a:pt x="2848431" y="14377"/>
                  </a:cubicBezTo>
                  <a:cubicBezTo>
                    <a:pt x="2857637" y="23583"/>
                    <a:pt x="2862808" y="36069"/>
                    <a:pt x="2862808" y="49087"/>
                  </a:cubicBezTo>
                  <a:lnTo>
                    <a:pt x="2862808" y="320094"/>
                  </a:lnTo>
                  <a:cubicBezTo>
                    <a:pt x="2862808" y="347205"/>
                    <a:pt x="2840831" y="369182"/>
                    <a:pt x="2813721" y="369182"/>
                  </a:cubicBezTo>
                  <a:lnTo>
                    <a:pt x="49087" y="369182"/>
                  </a:lnTo>
                  <a:cubicBezTo>
                    <a:pt x="21977" y="369182"/>
                    <a:pt x="0" y="347205"/>
                    <a:pt x="0" y="320094"/>
                  </a:cubicBezTo>
                  <a:lnTo>
                    <a:pt x="0" y="49087"/>
                  </a:lnTo>
                  <a:cubicBezTo>
                    <a:pt x="0" y="21977"/>
                    <a:pt x="21977" y="0"/>
                    <a:pt x="4908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862808" cy="407282"/>
            </a:xfrm>
            <a:prstGeom prst="rect">
              <a:avLst/>
            </a:prstGeom>
          </p:spPr>
          <p:txBody>
            <a:bodyPr anchor="ctr" rtlCol="false" tIns="44989" lIns="44989" bIns="44989" rIns="4498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897750" y="2849782"/>
            <a:ext cx="11924796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Na tabela progresso, inc</a:t>
            </a:r>
            <a:r>
              <a:rPr lang="en-US" sz="2899" strike="noStrike" u="none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luímos uma restrição de unicidade para que o mesmo aluno não tenha dois registros para a mesma aula.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38291" y="4952760"/>
            <a:ext cx="11972728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Na tab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e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la 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c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h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am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a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do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,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 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incl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u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ím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o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s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 a coluna descrição, para o aluno detalhar o problema.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549913" y="5228985"/>
            <a:ext cx="840836" cy="84083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253F">
                    <a:alpha val="100000"/>
                  </a:srgbClr>
                </a:gs>
                <a:gs pos="25000">
                  <a:srgbClr val="293C6F">
                    <a:alpha val="100000"/>
                  </a:srgbClr>
                </a:gs>
                <a:gs pos="50000">
                  <a:srgbClr val="555F7D">
                    <a:alpha val="100000"/>
                  </a:srgbClr>
                </a:gs>
                <a:gs pos="75000">
                  <a:srgbClr val="293C6F">
                    <a:alpha val="100000"/>
                  </a:srgbClr>
                </a:gs>
                <a:gs pos="100000">
                  <a:srgbClr val="222E5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549913" y="5144133"/>
            <a:ext cx="840836" cy="8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3"/>
              </a:lnSpc>
            </a:pPr>
            <a:r>
              <a:rPr lang="en-US" sz="3925">
                <a:solidFill>
                  <a:srgbClr val="FFFFF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02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568963" y="3151479"/>
            <a:ext cx="840836" cy="84083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253F">
                    <a:alpha val="100000"/>
                  </a:srgbClr>
                </a:gs>
                <a:gs pos="25000">
                  <a:srgbClr val="293C6F">
                    <a:alpha val="100000"/>
                  </a:srgbClr>
                </a:gs>
                <a:gs pos="50000">
                  <a:srgbClr val="555F7D">
                    <a:alpha val="100000"/>
                  </a:srgbClr>
                </a:gs>
                <a:gs pos="75000">
                  <a:srgbClr val="293C6F">
                    <a:alpha val="100000"/>
                  </a:srgbClr>
                </a:gs>
                <a:gs pos="100000">
                  <a:srgbClr val="222E5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549913" y="3066627"/>
            <a:ext cx="840836" cy="8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3"/>
              </a:lnSpc>
            </a:pPr>
            <a:r>
              <a:rPr lang="en-US" sz="3925">
                <a:solidFill>
                  <a:srgbClr val="FFFFF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01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588013" y="7280037"/>
            <a:ext cx="840836" cy="84083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253F">
                    <a:alpha val="100000"/>
                  </a:srgbClr>
                </a:gs>
                <a:gs pos="25000">
                  <a:srgbClr val="293C6F">
                    <a:alpha val="100000"/>
                  </a:srgbClr>
                </a:gs>
                <a:gs pos="50000">
                  <a:srgbClr val="555F7D">
                    <a:alpha val="100000"/>
                  </a:srgbClr>
                </a:gs>
                <a:gs pos="75000">
                  <a:srgbClr val="293C6F">
                    <a:alpha val="100000"/>
                  </a:srgbClr>
                </a:gs>
                <a:gs pos="100000">
                  <a:srgbClr val="222E51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568963" y="7195185"/>
            <a:ext cx="840836" cy="8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3"/>
              </a:lnSpc>
            </a:pPr>
            <a:r>
              <a:rPr lang="en-US" sz="3925">
                <a:solidFill>
                  <a:srgbClr val="FFFFF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03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3500886" y="7015390"/>
            <a:ext cx="12321660" cy="1588975"/>
            <a:chOff x="0" y="0"/>
            <a:chExt cx="2862808" cy="3691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62808" cy="369182"/>
            </a:xfrm>
            <a:custGeom>
              <a:avLst/>
              <a:gdLst/>
              <a:ahLst/>
              <a:cxnLst/>
              <a:rect r="r" b="b" t="t" l="l"/>
              <a:pathLst>
                <a:path h="369182" w="2862808">
                  <a:moveTo>
                    <a:pt x="49087" y="0"/>
                  </a:moveTo>
                  <a:lnTo>
                    <a:pt x="2813721" y="0"/>
                  </a:lnTo>
                  <a:cubicBezTo>
                    <a:pt x="2826740" y="0"/>
                    <a:pt x="2839225" y="5172"/>
                    <a:pt x="2848431" y="14377"/>
                  </a:cubicBezTo>
                  <a:cubicBezTo>
                    <a:pt x="2857637" y="23583"/>
                    <a:pt x="2862808" y="36069"/>
                    <a:pt x="2862808" y="49087"/>
                  </a:cubicBezTo>
                  <a:lnTo>
                    <a:pt x="2862808" y="320094"/>
                  </a:lnTo>
                  <a:cubicBezTo>
                    <a:pt x="2862808" y="347205"/>
                    <a:pt x="2840831" y="369182"/>
                    <a:pt x="2813721" y="369182"/>
                  </a:cubicBezTo>
                  <a:lnTo>
                    <a:pt x="49087" y="369182"/>
                  </a:lnTo>
                  <a:cubicBezTo>
                    <a:pt x="21977" y="369182"/>
                    <a:pt x="0" y="347205"/>
                    <a:pt x="0" y="320094"/>
                  </a:cubicBezTo>
                  <a:lnTo>
                    <a:pt x="0" y="49087"/>
                  </a:lnTo>
                  <a:cubicBezTo>
                    <a:pt x="0" y="21977"/>
                    <a:pt x="21977" y="0"/>
                    <a:pt x="4908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862808" cy="407282"/>
            </a:xfrm>
            <a:prstGeom prst="rect">
              <a:avLst/>
            </a:prstGeom>
          </p:spPr>
          <p:txBody>
            <a:bodyPr anchor="ctr" rtlCol="false" tIns="44989" lIns="44989" bIns="44989" rIns="4498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832964" y="7077469"/>
            <a:ext cx="11745481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C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riam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os a vi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e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w vw_rela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t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o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ri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o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_aula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s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, q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u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e 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r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eún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e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 aula, trilha, nível e status e alimenta o relatório consolidado.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334877" y="6483465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5184166" y="0"/>
                </a:moveTo>
                <a:lnTo>
                  <a:pt x="0" y="0"/>
                </a:lnTo>
                <a:lnTo>
                  <a:pt x="0" y="4071927"/>
                </a:lnTo>
                <a:lnTo>
                  <a:pt x="5184166" y="4071927"/>
                </a:lnTo>
                <a:lnTo>
                  <a:pt x="518416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438711" y="-268392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0" y="4071927"/>
                </a:moveTo>
                <a:lnTo>
                  <a:pt x="5184166" y="4071927"/>
                </a:lnTo>
                <a:lnTo>
                  <a:pt x="5184166" y="0"/>
                </a:lnTo>
                <a:lnTo>
                  <a:pt x="0" y="0"/>
                </a:lnTo>
                <a:lnTo>
                  <a:pt x="0" y="4071927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2477402"/>
            <a:ext cx="11234623" cy="721093"/>
          </a:xfrm>
          <a:custGeom>
            <a:avLst/>
            <a:gdLst/>
            <a:ahLst/>
            <a:cxnLst/>
            <a:rect r="r" b="b" t="t" l="l"/>
            <a:pathLst>
              <a:path h="721093" w="11234623">
                <a:moveTo>
                  <a:pt x="0" y="0"/>
                </a:moveTo>
                <a:lnTo>
                  <a:pt x="11234623" y="0"/>
                </a:lnTo>
                <a:lnTo>
                  <a:pt x="11234623" y="721092"/>
                </a:lnTo>
                <a:lnTo>
                  <a:pt x="0" y="721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6339" y="3974770"/>
            <a:ext cx="13239377" cy="570239"/>
          </a:xfrm>
          <a:custGeom>
            <a:avLst/>
            <a:gdLst/>
            <a:ahLst/>
            <a:cxnLst/>
            <a:rect r="r" b="b" t="t" l="l"/>
            <a:pathLst>
              <a:path h="570239" w="13239377">
                <a:moveTo>
                  <a:pt x="0" y="0"/>
                </a:moveTo>
                <a:lnTo>
                  <a:pt x="13239377" y="0"/>
                </a:lnTo>
                <a:lnTo>
                  <a:pt x="13239377" y="570239"/>
                </a:lnTo>
                <a:lnTo>
                  <a:pt x="0" y="570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47" t="0" r="-2147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6339" y="3296596"/>
            <a:ext cx="13453817" cy="582924"/>
          </a:xfrm>
          <a:custGeom>
            <a:avLst/>
            <a:gdLst/>
            <a:ahLst/>
            <a:cxnLst/>
            <a:rect r="r" b="b" t="t" l="l"/>
            <a:pathLst>
              <a:path h="582924" w="13453817">
                <a:moveTo>
                  <a:pt x="0" y="0"/>
                </a:moveTo>
                <a:lnTo>
                  <a:pt x="13453818" y="0"/>
                </a:lnTo>
                <a:lnTo>
                  <a:pt x="13453818" y="582924"/>
                </a:lnTo>
                <a:lnTo>
                  <a:pt x="0" y="582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51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4820" y="4601444"/>
            <a:ext cx="11843890" cy="479071"/>
          </a:xfrm>
          <a:custGeom>
            <a:avLst/>
            <a:gdLst/>
            <a:ahLst/>
            <a:cxnLst/>
            <a:rect r="r" b="b" t="t" l="l"/>
            <a:pathLst>
              <a:path h="479071" w="11843890">
                <a:moveTo>
                  <a:pt x="0" y="0"/>
                </a:moveTo>
                <a:lnTo>
                  <a:pt x="11843891" y="0"/>
                </a:lnTo>
                <a:lnTo>
                  <a:pt x="11843891" y="479071"/>
                </a:lnTo>
                <a:lnTo>
                  <a:pt x="0" y="4790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520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6339" y="5210135"/>
            <a:ext cx="11729631" cy="608203"/>
          </a:xfrm>
          <a:custGeom>
            <a:avLst/>
            <a:gdLst/>
            <a:ahLst/>
            <a:cxnLst/>
            <a:rect r="r" b="b" t="t" l="l"/>
            <a:pathLst>
              <a:path h="608203" w="11729631">
                <a:moveTo>
                  <a:pt x="0" y="0"/>
                </a:moveTo>
                <a:lnTo>
                  <a:pt x="11729631" y="0"/>
                </a:lnTo>
                <a:lnTo>
                  <a:pt x="11729631" y="608203"/>
                </a:lnTo>
                <a:lnTo>
                  <a:pt x="0" y="6082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"/>
                <a:ea typeface="Prachason Neue Mon"/>
                <a:cs typeface="Prachason Neue Mon"/>
                <a:sym typeface="Prachason Neue Mon"/>
              </a:rPr>
              <a:t>1</a:t>
            </a:r>
            <a:r>
              <a:rPr lang="en-US" sz="33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"/>
                <a:ea typeface="Prachason Neue Mon"/>
                <a:cs typeface="Prachason Neue Mon"/>
                <a:sym typeface="Prachason Neue Mon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8660" y="613439"/>
            <a:ext cx="5744591" cy="11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2"/>
              </a:lnSpc>
            </a:pPr>
            <a:r>
              <a:rPr lang="en-US" b="true" sz="5700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CRUD - TRILHA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13438711" y="-268392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0" y="4071927"/>
                </a:moveTo>
                <a:lnTo>
                  <a:pt x="5184166" y="4071927"/>
                </a:lnTo>
                <a:lnTo>
                  <a:pt x="5184166" y="0"/>
                </a:lnTo>
                <a:lnTo>
                  <a:pt x="0" y="0"/>
                </a:lnTo>
                <a:lnTo>
                  <a:pt x="0" y="4071927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2151" y="1497787"/>
            <a:ext cx="11846559" cy="539570"/>
          </a:xfrm>
          <a:custGeom>
            <a:avLst/>
            <a:gdLst/>
            <a:ahLst/>
            <a:cxnLst/>
            <a:rect r="r" b="b" t="t" l="l"/>
            <a:pathLst>
              <a:path h="539570" w="11846559">
                <a:moveTo>
                  <a:pt x="0" y="0"/>
                </a:moveTo>
                <a:lnTo>
                  <a:pt x="11846560" y="0"/>
                </a:lnTo>
                <a:lnTo>
                  <a:pt x="11846560" y="539570"/>
                </a:lnTo>
                <a:lnTo>
                  <a:pt x="0" y="539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2151" y="2037357"/>
            <a:ext cx="11726858" cy="2720532"/>
          </a:xfrm>
          <a:custGeom>
            <a:avLst/>
            <a:gdLst/>
            <a:ahLst/>
            <a:cxnLst/>
            <a:rect r="r" b="b" t="t" l="l"/>
            <a:pathLst>
              <a:path h="2720532" w="11726858">
                <a:moveTo>
                  <a:pt x="0" y="0"/>
                </a:moveTo>
                <a:lnTo>
                  <a:pt x="11726859" y="0"/>
                </a:lnTo>
                <a:lnTo>
                  <a:pt x="11726859" y="2720532"/>
                </a:lnTo>
                <a:lnTo>
                  <a:pt x="0" y="2720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5254" y="6312408"/>
            <a:ext cx="7437994" cy="3655191"/>
          </a:xfrm>
          <a:custGeom>
            <a:avLst/>
            <a:gdLst/>
            <a:ahLst/>
            <a:cxnLst/>
            <a:rect r="r" b="b" t="t" l="l"/>
            <a:pathLst>
              <a:path h="3655191" w="7437994">
                <a:moveTo>
                  <a:pt x="0" y="0"/>
                </a:moveTo>
                <a:lnTo>
                  <a:pt x="7437994" y="0"/>
                </a:lnTo>
                <a:lnTo>
                  <a:pt x="7437994" y="3655191"/>
                </a:lnTo>
                <a:lnTo>
                  <a:pt x="0" y="3655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"/>
                <a:ea typeface="Prachason Neue Mon"/>
                <a:cs typeface="Prachason Neue Mon"/>
                <a:sym typeface="Prachason Neue Mon"/>
              </a:rPr>
              <a:t>1</a:t>
            </a:r>
            <a:r>
              <a:rPr lang="en-US" sz="33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"/>
                <a:ea typeface="Prachason Neue Mon"/>
                <a:cs typeface="Prachason Neue Mon"/>
                <a:sym typeface="Prachason Neue Mon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128" y="56708"/>
            <a:ext cx="4849289" cy="104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6"/>
              </a:lnSpc>
            </a:pPr>
            <a:r>
              <a:rPr lang="en-US" b="true" sz="5100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CONSULTAS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128" y="4867275"/>
            <a:ext cx="4849289" cy="104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6"/>
              </a:lnSpc>
            </a:pPr>
            <a:r>
              <a:rPr lang="en-US" b="true" sz="5100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RELATÓRIO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-334877" y="6483465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5184166" y="0"/>
                </a:moveTo>
                <a:lnTo>
                  <a:pt x="0" y="0"/>
                </a:lnTo>
                <a:lnTo>
                  <a:pt x="0" y="4071927"/>
                </a:lnTo>
                <a:lnTo>
                  <a:pt x="5184166" y="4071927"/>
                </a:lnTo>
                <a:lnTo>
                  <a:pt x="518416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3438711" y="-268392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0" y="4071927"/>
                </a:moveTo>
                <a:lnTo>
                  <a:pt x="5184166" y="4071927"/>
                </a:lnTo>
                <a:lnTo>
                  <a:pt x="5184166" y="0"/>
                </a:lnTo>
                <a:lnTo>
                  <a:pt x="0" y="0"/>
                </a:lnTo>
                <a:lnTo>
                  <a:pt x="0" y="407192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"/>
                <a:ea typeface="Prachason Neue Mon"/>
                <a:cs typeface="Prachason Neue Mon"/>
                <a:sym typeface="Prachason Neue Mon"/>
              </a:rPr>
              <a:t>1</a:t>
            </a:r>
            <a:r>
              <a:rPr lang="en-US" sz="33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"/>
                <a:ea typeface="Prachason Neue Mon"/>
                <a:cs typeface="Prachason Neue Mon"/>
                <a:sym typeface="Prachason Neue Mon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53059" y="4108450"/>
            <a:ext cx="11581882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0"/>
              </a:lnSpc>
              <a:spcBef>
                <a:spcPct val="0"/>
              </a:spcBef>
            </a:pPr>
            <a:r>
              <a:rPr lang="en-US" b="true" sz="5000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MODELO LÓGICO RELACIONAL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-334877" y="6483465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5184166" y="0"/>
                </a:moveTo>
                <a:lnTo>
                  <a:pt x="0" y="0"/>
                </a:lnTo>
                <a:lnTo>
                  <a:pt x="0" y="4071927"/>
                </a:lnTo>
                <a:lnTo>
                  <a:pt x="5184166" y="4071927"/>
                </a:lnTo>
                <a:lnTo>
                  <a:pt x="518416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3438711" y="-268392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0" y="4071927"/>
                </a:moveTo>
                <a:lnTo>
                  <a:pt x="5184166" y="4071927"/>
                </a:lnTo>
                <a:lnTo>
                  <a:pt x="5184166" y="0"/>
                </a:lnTo>
                <a:lnTo>
                  <a:pt x="0" y="0"/>
                </a:lnTo>
                <a:lnTo>
                  <a:pt x="0" y="407192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18288000" cy="10288745"/>
          </a:xfrm>
          <a:custGeom>
            <a:avLst/>
            <a:gdLst/>
            <a:ahLst/>
            <a:cxnLst/>
            <a:rect r="r" b="b" t="t" l="l"/>
            <a:pathLst>
              <a:path h="10288745" w="18288000">
                <a:moveTo>
                  <a:pt x="0" y="0"/>
                </a:moveTo>
                <a:lnTo>
                  <a:pt x="18288000" y="0"/>
                </a:lnTo>
                <a:lnTo>
                  <a:pt x="18288000" y="10288745"/>
                </a:lnTo>
                <a:lnTo>
                  <a:pt x="0" y="102887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34877" y="6483465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5184166" y="0"/>
                </a:moveTo>
                <a:lnTo>
                  <a:pt x="0" y="0"/>
                </a:lnTo>
                <a:lnTo>
                  <a:pt x="0" y="4071927"/>
                </a:lnTo>
                <a:lnTo>
                  <a:pt x="5184166" y="4071927"/>
                </a:lnTo>
                <a:lnTo>
                  <a:pt x="518416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438711" y="-268392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0" y="4071927"/>
                </a:moveTo>
                <a:lnTo>
                  <a:pt x="5184166" y="4071927"/>
                </a:lnTo>
                <a:lnTo>
                  <a:pt x="5184166" y="0"/>
                </a:lnTo>
                <a:lnTo>
                  <a:pt x="0" y="0"/>
                </a:lnTo>
                <a:lnTo>
                  <a:pt x="0" y="407192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019158">
            <a:off x="-1201704" y="-523214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53059" y="1690273"/>
            <a:ext cx="11581882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0"/>
              </a:lnSpc>
              <a:spcBef>
                <a:spcPct val="0"/>
              </a:spcBef>
            </a:pPr>
            <a:r>
              <a:rPr lang="en-US" b="true" sz="5500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VERIFICAÇÃO DE NORMALIZAÇÃO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4949601"/>
            <a:ext cx="3628008" cy="1902047"/>
            <a:chOff x="0" y="0"/>
            <a:chExt cx="936910" cy="491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6910" cy="491192"/>
            </a:xfrm>
            <a:custGeom>
              <a:avLst/>
              <a:gdLst/>
              <a:ahLst/>
              <a:cxnLst/>
              <a:rect r="r" b="b" t="t" l="l"/>
              <a:pathLst>
                <a:path h="491192" w="936910">
                  <a:moveTo>
                    <a:pt x="103362" y="0"/>
                  </a:moveTo>
                  <a:lnTo>
                    <a:pt x="833548" y="0"/>
                  </a:lnTo>
                  <a:cubicBezTo>
                    <a:pt x="860961" y="0"/>
                    <a:pt x="887252" y="10890"/>
                    <a:pt x="906636" y="30274"/>
                  </a:cubicBezTo>
                  <a:cubicBezTo>
                    <a:pt x="926020" y="49658"/>
                    <a:pt x="936910" y="75949"/>
                    <a:pt x="936910" y="103362"/>
                  </a:cubicBezTo>
                  <a:lnTo>
                    <a:pt x="936910" y="387830"/>
                  </a:lnTo>
                  <a:cubicBezTo>
                    <a:pt x="936910" y="415243"/>
                    <a:pt x="926020" y="441534"/>
                    <a:pt x="906636" y="460918"/>
                  </a:cubicBezTo>
                  <a:cubicBezTo>
                    <a:pt x="887252" y="480302"/>
                    <a:pt x="860961" y="491192"/>
                    <a:pt x="833548" y="491192"/>
                  </a:cubicBezTo>
                  <a:lnTo>
                    <a:pt x="103362" y="491192"/>
                  </a:lnTo>
                  <a:cubicBezTo>
                    <a:pt x="75949" y="491192"/>
                    <a:pt x="49658" y="480302"/>
                    <a:pt x="30274" y="460918"/>
                  </a:cubicBezTo>
                  <a:cubicBezTo>
                    <a:pt x="10890" y="441534"/>
                    <a:pt x="0" y="415243"/>
                    <a:pt x="0" y="387830"/>
                  </a:cubicBezTo>
                  <a:lnTo>
                    <a:pt x="0" y="103362"/>
                  </a:lnTo>
                  <a:cubicBezTo>
                    <a:pt x="0" y="75949"/>
                    <a:pt x="10890" y="49658"/>
                    <a:pt x="30274" y="30274"/>
                  </a:cubicBezTo>
                  <a:cubicBezTo>
                    <a:pt x="49658" y="10890"/>
                    <a:pt x="75949" y="0"/>
                    <a:pt x="103362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36910" cy="529292"/>
            </a:xfrm>
            <a:prstGeom prst="rect">
              <a:avLst/>
            </a:prstGeom>
          </p:spPr>
          <p:txBody>
            <a:bodyPr anchor="ctr" rtlCol="false" tIns="40476" lIns="40476" bIns="40476" rIns="4047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89756" y="5403189"/>
            <a:ext cx="3105896" cy="65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7971" indent="-178985" lvl="1">
              <a:lnSpc>
                <a:spcPts val="2321"/>
              </a:lnSpc>
              <a:buFont typeface="Arial"/>
              <a:buChar char="•"/>
            </a:pPr>
            <a:r>
              <a:rPr lang="en-US" sz="1658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Primeiro nome e sobrenome</a:t>
            </a:r>
          </a:p>
          <a:p>
            <a:pPr algn="l">
              <a:lnSpc>
                <a:spcPts val="2321"/>
              </a:lnSpc>
            </a:pPr>
            <a:r>
              <a:rPr lang="en-US" sz="1658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separados.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83135" y="3520660"/>
            <a:ext cx="3628008" cy="949447"/>
            <a:chOff x="0" y="0"/>
            <a:chExt cx="746504" cy="1953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6504" cy="195359"/>
            </a:xfrm>
            <a:custGeom>
              <a:avLst/>
              <a:gdLst/>
              <a:ahLst/>
              <a:cxnLst/>
              <a:rect r="r" b="b" t="t" l="l"/>
              <a:pathLst>
                <a:path h="195359" w="746504">
                  <a:moveTo>
                    <a:pt x="97680" y="0"/>
                  </a:moveTo>
                  <a:lnTo>
                    <a:pt x="648824" y="0"/>
                  </a:lnTo>
                  <a:cubicBezTo>
                    <a:pt x="674730" y="0"/>
                    <a:pt x="699575" y="10291"/>
                    <a:pt x="717894" y="28610"/>
                  </a:cubicBezTo>
                  <a:cubicBezTo>
                    <a:pt x="736212" y="46928"/>
                    <a:pt x="746504" y="71773"/>
                    <a:pt x="746504" y="97680"/>
                  </a:cubicBezTo>
                  <a:lnTo>
                    <a:pt x="746504" y="97680"/>
                  </a:lnTo>
                  <a:cubicBezTo>
                    <a:pt x="746504" y="123586"/>
                    <a:pt x="736212" y="148431"/>
                    <a:pt x="717894" y="166750"/>
                  </a:cubicBezTo>
                  <a:cubicBezTo>
                    <a:pt x="699575" y="185068"/>
                    <a:pt x="674730" y="195359"/>
                    <a:pt x="648824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46504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68917" y="3765435"/>
            <a:ext cx="285170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C253F"/>
                </a:solidFill>
                <a:latin typeface="Muli Bold"/>
                <a:ea typeface="Muli Bold"/>
                <a:cs typeface="Muli Bold"/>
                <a:sym typeface="Muli Bold"/>
              </a:rPr>
              <a:t>1FN: Dados Atômicos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163567" y="3548336"/>
            <a:ext cx="3628008" cy="949447"/>
            <a:chOff x="0" y="0"/>
            <a:chExt cx="746504" cy="1953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6504" cy="195359"/>
            </a:xfrm>
            <a:custGeom>
              <a:avLst/>
              <a:gdLst/>
              <a:ahLst/>
              <a:cxnLst/>
              <a:rect r="r" b="b" t="t" l="l"/>
              <a:pathLst>
                <a:path h="195359" w="746504">
                  <a:moveTo>
                    <a:pt x="97680" y="0"/>
                  </a:moveTo>
                  <a:lnTo>
                    <a:pt x="648824" y="0"/>
                  </a:lnTo>
                  <a:cubicBezTo>
                    <a:pt x="674730" y="0"/>
                    <a:pt x="699575" y="10291"/>
                    <a:pt x="717894" y="28610"/>
                  </a:cubicBezTo>
                  <a:cubicBezTo>
                    <a:pt x="736212" y="46928"/>
                    <a:pt x="746504" y="71773"/>
                    <a:pt x="746504" y="97680"/>
                  </a:cubicBezTo>
                  <a:lnTo>
                    <a:pt x="746504" y="97680"/>
                  </a:lnTo>
                  <a:cubicBezTo>
                    <a:pt x="746504" y="123586"/>
                    <a:pt x="736212" y="148431"/>
                    <a:pt x="717894" y="166750"/>
                  </a:cubicBezTo>
                  <a:cubicBezTo>
                    <a:pt x="699575" y="185068"/>
                    <a:pt x="674730" y="195359"/>
                    <a:pt x="648824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46504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25163" y="4840683"/>
            <a:ext cx="3628008" cy="1902047"/>
            <a:chOff x="0" y="0"/>
            <a:chExt cx="936910" cy="4911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6910" cy="491192"/>
            </a:xfrm>
            <a:custGeom>
              <a:avLst/>
              <a:gdLst/>
              <a:ahLst/>
              <a:cxnLst/>
              <a:rect r="r" b="b" t="t" l="l"/>
              <a:pathLst>
                <a:path h="491192" w="936910">
                  <a:moveTo>
                    <a:pt x="103362" y="0"/>
                  </a:moveTo>
                  <a:lnTo>
                    <a:pt x="833548" y="0"/>
                  </a:lnTo>
                  <a:cubicBezTo>
                    <a:pt x="860961" y="0"/>
                    <a:pt x="887252" y="10890"/>
                    <a:pt x="906636" y="30274"/>
                  </a:cubicBezTo>
                  <a:cubicBezTo>
                    <a:pt x="926020" y="49658"/>
                    <a:pt x="936910" y="75949"/>
                    <a:pt x="936910" y="103362"/>
                  </a:cubicBezTo>
                  <a:lnTo>
                    <a:pt x="936910" y="387830"/>
                  </a:lnTo>
                  <a:cubicBezTo>
                    <a:pt x="936910" y="415243"/>
                    <a:pt x="926020" y="441534"/>
                    <a:pt x="906636" y="460918"/>
                  </a:cubicBezTo>
                  <a:cubicBezTo>
                    <a:pt x="887252" y="480302"/>
                    <a:pt x="860961" y="491192"/>
                    <a:pt x="833548" y="491192"/>
                  </a:cubicBezTo>
                  <a:lnTo>
                    <a:pt x="103362" y="491192"/>
                  </a:lnTo>
                  <a:cubicBezTo>
                    <a:pt x="75949" y="491192"/>
                    <a:pt x="49658" y="480302"/>
                    <a:pt x="30274" y="460918"/>
                  </a:cubicBezTo>
                  <a:cubicBezTo>
                    <a:pt x="10890" y="441534"/>
                    <a:pt x="0" y="415243"/>
                    <a:pt x="0" y="387830"/>
                  </a:cubicBezTo>
                  <a:lnTo>
                    <a:pt x="0" y="103362"/>
                  </a:lnTo>
                  <a:cubicBezTo>
                    <a:pt x="0" y="75949"/>
                    <a:pt x="10890" y="49658"/>
                    <a:pt x="30274" y="30274"/>
                  </a:cubicBezTo>
                  <a:cubicBezTo>
                    <a:pt x="49658" y="10890"/>
                    <a:pt x="75949" y="0"/>
                    <a:pt x="103362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36910" cy="529292"/>
            </a:xfrm>
            <a:prstGeom prst="rect">
              <a:avLst/>
            </a:prstGeom>
          </p:spPr>
          <p:txBody>
            <a:bodyPr anchor="ctr" rtlCol="false" tIns="40476" lIns="40476" bIns="40476" rIns="4047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0" y="4840683"/>
            <a:ext cx="3628008" cy="1902047"/>
            <a:chOff x="0" y="0"/>
            <a:chExt cx="936910" cy="4911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6910" cy="491192"/>
            </a:xfrm>
            <a:custGeom>
              <a:avLst/>
              <a:gdLst/>
              <a:ahLst/>
              <a:cxnLst/>
              <a:rect r="r" b="b" t="t" l="l"/>
              <a:pathLst>
                <a:path h="491192" w="936910">
                  <a:moveTo>
                    <a:pt x="103362" y="0"/>
                  </a:moveTo>
                  <a:lnTo>
                    <a:pt x="833548" y="0"/>
                  </a:lnTo>
                  <a:cubicBezTo>
                    <a:pt x="860961" y="0"/>
                    <a:pt x="887252" y="10890"/>
                    <a:pt x="906636" y="30274"/>
                  </a:cubicBezTo>
                  <a:cubicBezTo>
                    <a:pt x="926020" y="49658"/>
                    <a:pt x="936910" y="75949"/>
                    <a:pt x="936910" y="103362"/>
                  </a:cubicBezTo>
                  <a:lnTo>
                    <a:pt x="936910" y="387830"/>
                  </a:lnTo>
                  <a:cubicBezTo>
                    <a:pt x="936910" y="415243"/>
                    <a:pt x="926020" y="441534"/>
                    <a:pt x="906636" y="460918"/>
                  </a:cubicBezTo>
                  <a:cubicBezTo>
                    <a:pt x="887252" y="480302"/>
                    <a:pt x="860961" y="491192"/>
                    <a:pt x="833548" y="491192"/>
                  </a:cubicBezTo>
                  <a:lnTo>
                    <a:pt x="103362" y="491192"/>
                  </a:lnTo>
                  <a:cubicBezTo>
                    <a:pt x="75949" y="491192"/>
                    <a:pt x="49658" y="480302"/>
                    <a:pt x="30274" y="460918"/>
                  </a:cubicBezTo>
                  <a:cubicBezTo>
                    <a:pt x="10890" y="441534"/>
                    <a:pt x="0" y="415243"/>
                    <a:pt x="0" y="387830"/>
                  </a:cubicBezTo>
                  <a:lnTo>
                    <a:pt x="0" y="103362"/>
                  </a:lnTo>
                  <a:cubicBezTo>
                    <a:pt x="0" y="75949"/>
                    <a:pt x="10890" y="49658"/>
                    <a:pt x="30274" y="30274"/>
                  </a:cubicBezTo>
                  <a:cubicBezTo>
                    <a:pt x="49658" y="10890"/>
                    <a:pt x="75949" y="0"/>
                    <a:pt x="103362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36910" cy="529292"/>
            </a:xfrm>
            <a:prstGeom prst="rect">
              <a:avLst/>
            </a:prstGeom>
          </p:spPr>
          <p:txBody>
            <a:bodyPr anchor="ctr" rtlCol="false" tIns="40476" lIns="40476" bIns="40476" rIns="4047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0" y="3548336"/>
            <a:ext cx="3628008" cy="949447"/>
            <a:chOff x="0" y="0"/>
            <a:chExt cx="746504" cy="1953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6504" cy="195359"/>
            </a:xfrm>
            <a:custGeom>
              <a:avLst/>
              <a:gdLst/>
              <a:ahLst/>
              <a:cxnLst/>
              <a:rect r="r" b="b" t="t" l="l"/>
              <a:pathLst>
                <a:path h="195359" w="746504">
                  <a:moveTo>
                    <a:pt x="97680" y="0"/>
                  </a:moveTo>
                  <a:lnTo>
                    <a:pt x="648824" y="0"/>
                  </a:lnTo>
                  <a:cubicBezTo>
                    <a:pt x="674730" y="0"/>
                    <a:pt x="699575" y="10291"/>
                    <a:pt x="717894" y="28610"/>
                  </a:cubicBezTo>
                  <a:cubicBezTo>
                    <a:pt x="736212" y="46928"/>
                    <a:pt x="746504" y="71773"/>
                    <a:pt x="746504" y="97680"/>
                  </a:cubicBezTo>
                  <a:lnTo>
                    <a:pt x="746504" y="97680"/>
                  </a:lnTo>
                  <a:cubicBezTo>
                    <a:pt x="746504" y="123586"/>
                    <a:pt x="736212" y="148431"/>
                    <a:pt x="717894" y="166750"/>
                  </a:cubicBezTo>
                  <a:cubicBezTo>
                    <a:pt x="699575" y="185068"/>
                    <a:pt x="674730" y="195359"/>
                    <a:pt x="648824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46504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20937" y="3520660"/>
            <a:ext cx="3628008" cy="949447"/>
            <a:chOff x="0" y="0"/>
            <a:chExt cx="746504" cy="1953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6504" cy="195359"/>
            </a:xfrm>
            <a:custGeom>
              <a:avLst/>
              <a:gdLst/>
              <a:ahLst/>
              <a:cxnLst/>
              <a:rect r="r" b="b" t="t" l="l"/>
              <a:pathLst>
                <a:path h="195359" w="746504">
                  <a:moveTo>
                    <a:pt x="97680" y="0"/>
                  </a:moveTo>
                  <a:lnTo>
                    <a:pt x="648824" y="0"/>
                  </a:lnTo>
                  <a:cubicBezTo>
                    <a:pt x="674730" y="0"/>
                    <a:pt x="699575" y="10291"/>
                    <a:pt x="717894" y="28610"/>
                  </a:cubicBezTo>
                  <a:cubicBezTo>
                    <a:pt x="736212" y="46928"/>
                    <a:pt x="746504" y="71773"/>
                    <a:pt x="746504" y="97680"/>
                  </a:cubicBezTo>
                  <a:lnTo>
                    <a:pt x="746504" y="97680"/>
                  </a:lnTo>
                  <a:cubicBezTo>
                    <a:pt x="746504" y="123586"/>
                    <a:pt x="736212" y="148431"/>
                    <a:pt x="717894" y="166750"/>
                  </a:cubicBezTo>
                  <a:cubicBezTo>
                    <a:pt x="699575" y="185068"/>
                    <a:pt x="674730" y="195359"/>
                    <a:pt x="648824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46504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551721" y="3640155"/>
            <a:ext cx="285170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C253F"/>
                </a:solidFill>
                <a:latin typeface="Muli Bold"/>
                <a:ea typeface="Muli Bold"/>
                <a:cs typeface="Muli Bold"/>
                <a:sym typeface="Muli Bold"/>
              </a:rPr>
              <a:t>2FN: Dependência Parcial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70834" y="3640155"/>
            <a:ext cx="285170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C253F"/>
                </a:solidFill>
                <a:latin typeface="Muli Bold"/>
                <a:ea typeface="Muli Bold"/>
                <a:cs typeface="Muli Bold"/>
                <a:sym typeface="Muli Bold"/>
              </a:rPr>
              <a:t>3FN: Dependência Transitiva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14958" y="3798216"/>
            <a:ext cx="285170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C253F"/>
                </a:solidFill>
                <a:latin typeface="Muli Bold"/>
                <a:ea typeface="Muli Bold"/>
                <a:cs typeface="Muli Bold"/>
                <a:sym typeface="Muli Bold"/>
              </a:rPr>
              <a:t>BCNF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038708" y="4840683"/>
            <a:ext cx="3628008" cy="1902047"/>
            <a:chOff x="0" y="0"/>
            <a:chExt cx="936910" cy="4911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6910" cy="491192"/>
            </a:xfrm>
            <a:custGeom>
              <a:avLst/>
              <a:gdLst/>
              <a:ahLst/>
              <a:cxnLst/>
              <a:rect r="r" b="b" t="t" l="l"/>
              <a:pathLst>
                <a:path h="491192" w="936910">
                  <a:moveTo>
                    <a:pt x="103362" y="0"/>
                  </a:moveTo>
                  <a:lnTo>
                    <a:pt x="833548" y="0"/>
                  </a:lnTo>
                  <a:cubicBezTo>
                    <a:pt x="860961" y="0"/>
                    <a:pt x="887252" y="10890"/>
                    <a:pt x="906636" y="30274"/>
                  </a:cubicBezTo>
                  <a:cubicBezTo>
                    <a:pt x="926020" y="49658"/>
                    <a:pt x="936910" y="75949"/>
                    <a:pt x="936910" y="103362"/>
                  </a:cubicBezTo>
                  <a:lnTo>
                    <a:pt x="936910" y="387830"/>
                  </a:lnTo>
                  <a:cubicBezTo>
                    <a:pt x="936910" y="415243"/>
                    <a:pt x="926020" y="441534"/>
                    <a:pt x="906636" y="460918"/>
                  </a:cubicBezTo>
                  <a:cubicBezTo>
                    <a:pt x="887252" y="480302"/>
                    <a:pt x="860961" y="491192"/>
                    <a:pt x="833548" y="491192"/>
                  </a:cubicBezTo>
                  <a:lnTo>
                    <a:pt x="103362" y="491192"/>
                  </a:lnTo>
                  <a:cubicBezTo>
                    <a:pt x="75949" y="491192"/>
                    <a:pt x="49658" y="480302"/>
                    <a:pt x="30274" y="460918"/>
                  </a:cubicBezTo>
                  <a:cubicBezTo>
                    <a:pt x="10890" y="441534"/>
                    <a:pt x="0" y="415243"/>
                    <a:pt x="0" y="387830"/>
                  </a:cubicBezTo>
                  <a:lnTo>
                    <a:pt x="0" y="103362"/>
                  </a:lnTo>
                  <a:cubicBezTo>
                    <a:pt x="0" y="75949"/>
                    <a:pt x="10890" y="49658"/>
                    <a:pt x="30274" y="30274"/>
                  </a:cubicBezTo>
                  <a:cubicBezTo>
                    <a:pt x="49658" y="10890"/>
                    <a:pt x="75949" y="0"/>
                    <a:pt x="103362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36910" cy="529292"/>
            </a:xfrm>
            <a:prstGeom prst="rect">
              <a:avLst/>
            </a:prstGeom>
          </p:spPr>
          <p:txBody>
            <a:bodyPr anchor="ctr" rtlCol="false" tIns="40476" lIns="40476" bIns="40476" rIns="4047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5186218" y="5403189"/>
            <a:ext cx="3105896" cy="65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7971" indent="-178985" lvl="1">
              <a:lnSpc>
                <a:spcPts val="2321"/>
              </a:lnSpc>
              <a:buFont typeface="Arial"/>
              <a:buChar char="•"/>
            </a:pPr>
            <a:r>
              <a:rPr lang="en-US" sz="1658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PROGRESSO: id_aluno + id_aula;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43737" y="5424246"/>
            <a:ext cx="3105896" cy="36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7971" indent="-178985" lvl="1">
              <a:lnSpc>
                <a:spcPts val="2321"/>
              </a:lnSpc>
              <a:buFont typeface="Arial"/>
              <a:buChar char="•"/>
            </a:pPr>
            <a:r>
              <a:rPr lang="en-US" sz="1658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Sem dependência transitiva;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05408" y="5403189"/>
            <a:ext cx="3105896" cy="36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7971" indent="-178985" lvl="1">
              <a:lnSpc>
                <a:spcPts val="2321"/>
              </a:lnSpc>
              <a:buFont typeface="Arial"/>
              <a:buChar char="•"/>
            </a:pPr>
            <a:r>
              <a:rPr lang="en-US" sz="1658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Todo determinante é uma chave candidata;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20156" y="924062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9"/>
                </a:lnTo>
                <a:lnTo>
                  <a:pt x="0" y="20832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34877" y="6483465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5184166" y="0"/>
                </a:moveTo>
                <a:lnTo>
                  <a:pt x="0" y="0"/>
                </a:lnTo>
                <a:lnTo>
                  <a:pt x="0" y="4071927"/>
                </a:lnTo>
                <a:lnTo>
                  <a:pt x="5184166" y="4071927"/>
                </a:lnTo>
                <a:lnTo>
                  <a:pt x="518416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438711" y="-268392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0" y="4071927"/>
                </a:moveTo>
                <a:lnTo>
                  <a:pt x="5184166" y="4071927"/>
                </a:lnTo>
                <a:lnTo>
                  <a:pt x="5184166" y="0"/>
                </a:lnTo>
                <a:lnTo>
                  <a:pt x="0" y="0"/>
                </a:lnTo>
                <a:lnTo>
                  <a:pt x="0" y="407192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019158">
            <a:off x="1405280" y="537765"/>
            <a:ext cx="7102946" cy="9345982"/>
          </a:xfrm>
          <a:custGeom>
            <a:avLst/>
            <a:gdLst/>
            <a:ahLst/>
            <a:cxnLst/>
            <a:rect r="r" b="b" t="t" l="l"/>
            <a:pathLst>
              <a:path h="9345982" w="7102946">
                <a:moveTo>
                  <a:pt x="0" y="0"/>
                </a:moveTo>
                <a:lnTo>
                  <a:pt x="7102946" y="0"/>
                </a:lnTo>
                <a:lnTo>
                  <a:pt x="7102946" y="9345982"/>
                </a:lnTo>
                <a:lnTo>
                  <a:pt x="0" y="9345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609140" y="2761858"/>
            <a:ext cx="10369945" cy="528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1C253F"/>
                </a:soli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DDL-Data Definition Language 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(</a:t>
            </a: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Responsável pela criacao e estrutura do banco de dados)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•Criação do banco de dados Destrava e das tabelas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•Criação das tabelas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•Chaves primárias e estrangeiras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•Restrições e relacionamentos 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Comandos principais:CREATE DATABASE E CREATE TABLE</a:t>
            </a:r>
          </a:p>
          <a:p>
            <a:pPr algn="l">
              <a:lnSpc>
                <a:spcPts val="40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15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9332" y="1367522"/>
            <a:ext cx="15569337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b="true" sz="74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DDL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34877" y="6483465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5184166" y="0"/>
                </a:moveTo>
                <a:lnTo>
                  <a:pt x="0" y="0"/>
                </a:lnTo>
                <a:lnTo>
                  <a:pt x="0" y="4071927"/>
                </a:lnTo>
                <a:lnTo>
                  <a:pt x="5184166" y="4071927"/>
                </a:lnTo>
                <a:lnTo>
                  <a:pt x="518416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438711" y="-268392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0" y="4071927"/>
                </a:moveTo>
                <a:lnTo>
                  <a:pt x="5184166" y="4071927"/>
                </a:lnTo>
                <a:lnTo>
                  <a:pt x="5184166" y="0"/>
                </a:lnTo>
                <a:lnTo>
                  <a:pt x="0" y="0"/>
                </a:lnTo>
                <a:lnTo>
                  <a:pt x="0" y="407192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019158">
            <a:off x="-1201704" y="-523214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16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53059" y="1367522"/>
            <a:ext cx="1158188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99"/>
              </a:lnSpc>
              <a:spcBef>
                <a:spcPct val="0"/>
              </a:spcBef>
            </a:pPr>
            <a:r>
              <a:rPr lang="en-US" b="true" sz="74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DML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41175" y="2681972"/>
            <a:ext cx="10103566" cy="560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2795" b="true">
                <a:solidFill>
                  <a:srgbClr val="1C253F"/>
                </a:soli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DML-Data Manipulation Language 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(Responsável pela inserção e manipulação dos dados)</a:t>
            </a:r>
          </a:p>
          <a:p>
            <a:pPr algn="l">
              <a:lnSpc>
                <a:spcPts val="3913"/>
              </a:lnSpc>
            </a:pP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•Insercao de trilhas,níveis e aulas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•Cadastro de usuários,alunos e administradores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• Inserção de trilhas,níveis e aulas 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•Registro de progresso e conquistas 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•Cadastro de chamados e mensagens 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•Verificação dos dados inserirdos</a:t>
            </a:r>
          </a:p>
          <a:p>
            <a:pPr algn="l">
              <a:lnSpc>
                <a:spcPts val="3913"/>
              </a:lnSpc>
            </a:pP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1C253F"/>
                </a:solidFill>
                <a:latin typeface="Prachason Neue Mon"/>
                <a:ea typeface="Prachason Neue Mon"/>
                <a:cs typeface="Prachason Neue Mon"/>
                <a:sym typeface="Prachason Neue Mon"/>
              </a:rPr>
              <a:t>Comandos principais:INSERT INTO E SELECT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22692" y="5459112"/>
            <a:ext cx="6400206" cy="5027071"/>
          </a:xfrm>
          <a:custGeom>
            <a:avLst/>
            <a:gdLst/>
            <a:ahLst/>
            <a:cxnLst/>
            <a:rect r="r" b="b" t="t" l="l"/>
            <a:pathLst>
              <a:path h="5027071" w="6400206">
                <a:moveTo>
                  <a:pt x="0" y="0"/>
                </a:moveTo>
                <a:lnTo>
                  <a:pt x="6400206" y="0"/>
                </a:lnTo>
                <a:lnTo>
                  <a:pt x="6400206" y="5027071"/>
                </a:lnTo>
                <a:lnTo>
                  <a:pt x="0" y="5027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434898" y="-199183"/>
            <a:ext cx="6400206" cy="5027071"/>
          </a:xfrm>
          <a:custGeom>
            <a:avLst/>
            <a:gdLst/>
            <a:ahLst/>
            <a:cxnLst/>
            <a:rect r="r" b="b" t="t" l="l"/>
            <a:pathLst>
              <a:path h="5027071" w="6400206">
                <a:moveTo>
                  <a:pt x="6400206" y="5027071"/>
                </a:moveTo>
                <a:lnTo>
                  <a:pt x="0" y="5027071"/>
                </a:lnTo>
                <a:lnTo>
                  <a:pt x="0" y="0"/>
                </a:lnTo>
                <a:lnTo>
                  <a:pt x="6400206" y="0"/>
                </a:lnTo>
                <a:lnTo>
                  <a:pt x="6400206" y="5027071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1543453" y="-479288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700000">
            <a:off x="-1599523" y="410084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8344070" y="10979040"/>
                </a:moveTo>
                <a:lnTo>
                  <a:pt x="0" y="10979040"/>
                </a:lnTo>
                <a:lnTo>
                  <a:pt x="0" y="0"/>
                </a:lnTo>
                <a:lnTo>
                  <a:pt x="8344070" y="0"/>
                </a:lnTo>
                <a:lnTo>
                  <a:pt x="8344070" y="1097904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381747">
            <a:off x="10901233" y="-5032500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0" y="0"/>
                </a:moveTo>
                <a:lnTo>
                  <a:pt x="10013894" y="0"/>
                </a:lnTo>
                <a:lnTo>
                  <a:pt x="100138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1381747">
            <a:off x="-2627127" y="7089900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013894" y="0"/>
                </a:lnTo>
                <a:lnTo>
                  <a:pt x="10013894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37475" y="2622234"/>
            <a:ext cx="9213050" cy="372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31"/>
              </a:lnSpc>
            </a:pPr>
            <a:r>
              <a:rPr lang="en-US" b="true" sz="9165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OBRIGADA PELA ATENÇÃO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DAHWkuYMHUc</dc:identifier>
  <dcterms:modified xsi:type="dcterms:W3CDTF">2011-08-01T06:04:30Z</dcterms:modified>
  <cp:revision>1</cp:revision>
  <dc:title>Destrava banco de dados</dc:title>
</cp:coreProperties>
</file>