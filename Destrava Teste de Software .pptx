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Poppins" charset="1" panose="00000500000000000000"/>
      <p:regular r:id="rId20"/>
    </p:embeddedFont>
    <p:embeddedFont>
      <p:font typeface="Hello Paris" charset="1" panose="00000000000000000000"/>
      <p:regular r:id="rId21"/>
    </p:embeddedFont>
    <p:embeddedFont>
      <p:font typeface="Poppins Bold" charset="1" panose="00000800000000000000"/>
      <p:regular r:id="rId22"/>
    </p:embeddedFont>
    <p:embeddedFont>
      <p:font typeface="Arimo Bold" charset="1" panose="020B0704020202020204"/>
      <p:regular r:id="rId23"/>
    </p:embeddedFont>
    <p:embeddedFont>
      <p:font typeface="Alice" charset="1" panose="00000500000000000000"/>
      <p:regular r:id="rId24"/>
    </p:embeddedFont>
    <p:embeddedFont>
      <p:font typeface="Arimo" charset="1" panose="020B0604020202020204"/>
      <p:regular r:id="rId25"/>
    </p:embeddedFont>
    <p:embeddedFont>
      <p:font typeface="Alice Bold" charset="1" panose="000005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jpeg" Type="http://schemas.openxmlformats.org/officeDocument/2006/relationships/image"/><Relationship Id="rId4" Target="../media/VAHX_uFnN3Q.mp4" Type="http://schemas.openxmlformats.org/officeDocument/2006/relationships/video"/><Relationship Id="rId5" Target="../media/VAHX_uFnN3Q.mp4" Type="http://schemas.microsoft.com/office/2007/relationships/media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0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64648" y="-412671"/>
            <a:ext cx="19138589" cy="15728440"/>
          </a:xfrm>
          <a:custGeom>
            <a:avLst/>
            <a:gdLst/>
            <a:ahLst/>
            <a:cxnLst/>
            <a:rect r="r" b="b" t="t" l="l"/>
            <a:pathLst>
              <a:path h="15728440" w="19138589">
                <a:moveTo>
                  <a:pt x="0" y="0"/>
                </a:moveTo>
                <a:lnTo>
                  <a:pt x="19138589" y="0"/>
                </a:lnTo>
                <a:lnTo>
                  <a:pt x="19138589" y="15728440"/>
                </a:lnTo>
                <a:lnTo>
                  <a:pt x="0" y="157284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98122" y="-3641802"/>
            <a:ext cx="7287370" cy="7287370"/>
          </a:xfrm>
          <a:custGeom>
            <a:avLst/>
            <a:gdLst/>
            <a:ahLst/>
            <a:cxnLst/>
            <a:rect r="r" b="b" t="t" l="l"/>
            <a:pathLst>
              <a:path h="7287370" w="7287370">
                <a:moveTo>
                  <a:pt x="0" y="0"/>
                </a:moveTo>
                <a:lnTo>
                  <a:pt x="7287371" y="0"/>
                </a:lnTo>
                <a:lnTo>
                  <a:pt x="7287371" y="7287370"/>
                </a:lnTo>
                <a:lnTo>
                  <a:pt x="0" y="72873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761322" y="5972315"/>
            <a:ext cx="6686648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Teste de Software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40668" y="3520803"/>
            <a:ext cx="13406663" cy="2537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35"/>
              </a:lnSpc>
            </a:pPr>
            <a:r>
              <a:rPr lang="en-US" sz="13311">
                <a:solidFill>
                  <a:srgbClr val="FFFFFF"/>
                </a:solidFill>
                <a:latin typeface="Hello Paris"/>
                <a:ea typeface="Hello Paris"/>
                <a:cs typeface="Hello Paris"/>
                <a:sym typeface="Hello Paris"/>
              </a:rPr>
              <a:t>Destrava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998213" y="6664150"/>
            <a:ext cx="8212867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Alice, Evellyn, Maria Eduarda, Sarah, Sophia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0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434761">
            <a:off x="-1151282" y="-8651097"/>
            <a:ext cx="23029740" cy="21480466"/>
          </a:xfrm>
          <a:custGeom>
            <a:avLst/>
            <a:gdLst/>
            <a:ahLst/>
            <a:cxnLst/>
            <a:rect r="r" b="b" t="t" l="l"/>
            <a:pathLst>
              <a:path h="21480466" w="23029740">
                <a:moveTo>
                  <a:pt x="0" y="0"/>
                </a:moveTo>
                <a:lnTo>
                  <a:pt x="23029740" y="0"/>
                </a:lnTo>
                <a:lnTo>
                  <a:pt x="23029740" y="21480466"/>
                </a:lnTo>
                <a:lnTo>
                  <a:pt x="0" y="214804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270178">
            <a:off x="-4181763" y="-1250508"/>
            <a:ext cx="17999268" cy="16788408"/>
          </a:xfrm>
          <a:custGeom>
            <a:avLst/>
            <a:gdLst/>
            <a:ahLst/>
            <a:cxnLst/>
            <a:rect r="r" b="b" t="t" l="l"/>
            <a:pathLst>
              <a:path h="16788408" w="17999268">
                <a:moveTo>
                  <a:pt x="0" y="0"/>
                </a:moveTo>
                <a:lnTo>
                  <a:pt x="17999268" y="0"/>
                </a:lnTo>
                <a:lnTo>
                  <a:pt x="17999268" y="16788408"/>
                </a:lnTo>
                <a:lnTo>
                  <a:pt x="0" y="167884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pic>
        <p:nvPicPr>
          <p:cNvPr name="Picture 4" id="4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>
                  <p14:trim st="5630.0000" end="0.0000"/>
                </p14:media>
              </p:ext>
            </p:extLst>
          </p:nvPr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2803091" y="2657039"/>
            <a:ext cx="12681817" cy="7225687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2481278" y="1337178"/>
            <a:ext cx="13325445" cy="100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Plataforma educacional voltada ao ensino de informática básica que leva em consideração a idade e o nível de dificuldade de cada estudante.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428863" y="-361950"/>
            <a:ext cx="9430274" cy="1784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08"/>
              </a:lnSpc>
            </a:pPr>
            <a:r>
              <a:rPr lang="en-US" sz="9363">
                <a:solidFill>
                  <a:srgbClr val="FFFFFF"/>
                </a:solidFill>
                <a:latin typeface="Hello Paris"/>
                <a:ea typeface="Hello Paris"/>
                <a:cs typeface="Hello Paris"/>
                <a:sym typeface="Hello Paris"/>
              </a:rPr>
              <a:t>A Empresa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0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433009">
            <a:off x="-10174823" y="3593895"/>
            <a:ext cx="17396448" cy="16226142"/>
          </a:xfrm>
          <a:custGeom>
            <a:avLst/>
            <a:gdLst/>
            <a:ahLst/>
            <a:cxnLst/>
            <a:rect r="r" b="b" t="t" l="l"/>
            <a:pathLst>
              <a:path h="16226142" w="17396448">
                <a:moveTo>
                  <a:pt x="0" y="0"/>
                </a:moveTo>
                <a:lnTo>
                  <a:pt x="17396448" y="0"/>
                </a:lnTo>
                <a:lnTo>
                  <a:pt x="17396448" y="16226141"/>
                </a:lnTo>
                <a:lnTo>
                  <a:pt x="0" y="162261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6416387">
            <a:off x="12438428" y="-5204516"/>
            <a:ext cx="11148010" cy="10398053"/>
          </a:xfrm>
          <a:custGeom>
            <a:avLst/>
            <a:gdLst/>
            <a:ahLst/>
            <a:cxnLst/>
            <a:rect r="r" b="b" t="t" l="l"/>
            <a:pathLst>
              <a:path h="10398053" w="11148010">
                <a:moveTo>
                  <a:pt x="0" y="0"/>
                </a:moveTo>
                <a:lnTo>
                  <a:pt x="11148010" y="0"/>
                </a:lnTo>
                <a:lnTo>
                  <a:pt x="11148010" y="10398053"/>
                </a:lnTo>
                <a:lnTo>
                  <a:pt x="0" y="103980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90121" y="2714862"/>
            <a:ext cx="14307759" cy="5958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 que será testado: 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 Login (Aluno e Administrador)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 CRUD de Aulas (criação, consulta, atualização e exclusão)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 CRUD de Chamados / SAC (abertura, consulta, atualização e encerramento)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 Navegação por trilhas e níveis (iniciante, intermediário, avançado)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 Controle de acesso por papel (permissões de Aluno x Administrador)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 que não será testado: 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 Testes de carga/performance 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 Testes de segurança avançados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 Backend do website</a:t>
            </a:r>
          </a:p>
          <a:p>
            <a:pPr algn="l">
              <a:lnSpc>
                <a:spcPts val="391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4428863" y="1015734"/>
            <a:ext cx="9430274" cy="1784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08"/>
              </a:lnSpc>
            </a:pPr>
            <a:r>
              <a:rPr lang="en-US" sz="9363">
                <a:solidFill>
                  <a:srgbClr val="FFFFFF"/>
                </a:solidFill>
                <a:latin typeface="Hello Paris"/>
                <a:ea typeface="Hello Paris"/>
                <a:cs typeface="Hello Paris"/>
                <a:sym typeface="Hello Paris"/>
              </a:rPr>
              <a:t>Escopo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0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799348">
            <a:off x="-3522589" y="-523581"/>
            <a:ext cx="16542981" cy="15430089"/>
          </a:xfrm>
          <a:custGeom>
            <a:avLst/>
            <a:gdLst/>
            <a:ahLst/>
            <a:cxnLst/>
            <a:rect r="r" b="b" t="t" l="l"/>
            <a:pathLst>
              <a:path h="15430089" w="16542981">
                <a:moveTo>
                  <a:pt x="0" y="0"/>
                </a:moveTo>
                <a:lnTo>
                  <a:pt x="16542981" y="0"/>
                </a:lnTo>
                <a:lnTo>
                  <a:pt x="16542981" y="15430089"/>
                </a:lnTo>
                <a:lnTo>
                  <a:pt x="0" y="154300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8388253">
            <a:off x="12678107" y="6003497"/>
            <a:ext cx="12033852" cy="11224302"/>
          </a:xfrm>
          <a:custGeom>
            <a:avLst/>
            <a:gdLst/>
            <a:ahLst/>
            <a:cxnLst/>
            <a:rect r="r" b="b" t="t" l="l"/>
            <a:pathLst>
              <a:path h="11224302" w="12033852">
                <a:moveTo>
                  <a:pt x="0" y="0"/>
                </a:moveTo>
                <a:lnTo>
                  <a:pt x="12033852" y="0"/>
                </a:lnTo>
                <a:lnTo>
                  <a:pt x="12033852" y="11224302"/>
                </a:lnTo>
                <a:lnTo>
                  <a:pt x="0" y="112243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895320">
            <a:off x="15325982" y="-853765"/>
            <a:ext cx="3866635" cy="3866635"/>
          </a:xfrm>
          <a:custGeom>
            <a:avLst/>
            <a:gdLst/>
            <a:ahLst/>
            <a:cxnLst/>
            <a:rect r="r" b="b" t="t" l="l"/>
            <a:pathLst>
              <a:path h="3866635" w="3866635">
                <a:moveTo>
                  <a:pt x="0" y="0"/>
                </a:moveTo>
                <a:lnTo>
                  <a:pt x="3866636" y="0"/>
                </a:lnTo>
                <a:lnTo>
                  <a:pt x="3866636" y="3866635"/>
                </a:lnTo>
                <a:lnTo>
                  <a:pt x="0" y="38666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704674" y="3650155"/>
            <a:ext cx="11188669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Jest: Testes Unitários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704674" y="4360085"/>
            <a:ext cx="11188669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JavaScript: Testes Unitários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428863" y="1015734"/>
            <a:ext cx="9430274" cy="1784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08"/>
              </a:lnSpc>
            </a:pPr>
            <a:r>
              <a:rPr lang="en-US" sz="9363">
                <a:solidFill>
                  <a:srgbClr val="FFFFFF"/>
                </a:solidFill>
                <a:latin typeface="Hello Paris"/>
                <a:ea typeface="Hello Paris"/>
                <a:cs typeface="Hello Paris"/>
                <a:sym typeface="Hello Paris"/>
              </a:rPr>
              <a:t>Ferramentas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704674" y="5070015"/>
            <a:ext cx="11188669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Cypress: E2E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0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204988">
            <a:off x="-1522453" y="7690687"/>
            <a:ext cx="8586714" cy="8009063"/>
          </a:xfrm>
          <a:custGeom>
            <a:avLst/>
            <a:gdLst/>
            <a:ahLst/>
            <a:cxnLst/>
            <a:rect r="r" b="b" t="t" l="l"/>
            <a:pathLst>
              <a:path h="8009063" w="8586714">
                <a:moveTo>
                  <a:pt x="0" y="0"/>
                </a:moveTo>
                <a:lnTo>
                  <a:pt x="8586715" y="0"/>
                </a:lnTo>
                <a:lnTo>
                  <a:pt x="8586715" y="8009063"/>
                </a:lnTo>
                <a:lnTo>
                  <a:pt x="0" y="80090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817545">
            <a:off x="14911766" y="-3546889"/>
            <a:ext cx="12338280" cy="11508250"/>
          </a:xfrm>
          <a:custGeom>
            <a:avLst/>
            <a:gdLst/>
            <a:ahLst/>
            <a:cxnLst/>
            <a:rect r="r" b="b" t="t" l="l"/>
            <a:pathLst>
              <a:path h="11508250" w="12338280">
                <a:moveTo>
                  <a:pt x="0" y="0"/>
                </a:moveTo>
                <a:lnTo>
                  <a:pt x="12338280" y="0"/>
                </a:lnTo>
                <a:lnTo>
                  <a:pt x="12338280" y="11508250"/>
                </a:lnTo>
                <a:lnTo>
                  <a:pt x="0" y="11508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81688" y="1230249"/>
            <a:ext cx="2374247" cy="2374247"/>
          </a:xfrm>
          <a:custGeom>
            <a:avLst/>
            <a:gdLst/>
            <a:ahLst/>
            <a:cxnLst/>
            <a:rect r="r" b="b" t="t" l="l"/>
            <a:pathLst>
              <a:path h="2374247" w="2374247">
                <a:moveTo>
                  <a:pt x="0" y="0"/>
                </a:moveTo>
                <a:lnTo>
                  <a:pt x="2374247" y="0"/>
                </a:lnTo>
                <a:lnTo>
                  <a:pt x="2374247" y="2374247"/>
                </a:lnTo>
                <a:lnTo>
                  <a:pt x="0" y="23742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83781" y="3805744"/>
            <a:ext cx="7100720" cy="348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Nesta etapa foi realizado testes unitários focados especificadamente no gerenciamento de aulas, com o objetivo de validar isoladamente o comportamento de cada função básica do CRUD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90329" y="2950920"/>
            <a:ext cx="7668971" cy="5958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Adaptação de teste: durante o desenvolvimento do planejamento do teste Unitário do CRUD das aulas percebi que o nosso site utiliza apenas HTML, CSS e javascript, sem node.js instalado. Após diversas complicações com a configuração de ferramentas como o Jest e o mocha, pesquisamos soluções alternativas, optando por um modelo de script de testes em JavaScript puro e adaptado para o projeto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3092" y="540062"/>
            <a:ext cx="15906208" cy="1784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08"/>
              </a:lnSpc>
            </a:pPr>
            <a:r>
              <a:rPr lang="en-US" sz="9363">
                <a:solidFill>
                  <a:srgbClr val="FFFFFF"/>
                </a:solidFill>
                <a:latin typeface="Hello Paris"/>
                <a:ea typeface="Hello Paris"/>
                <a:cs typeface="Hello Paris"/>
                <a:sym typeface="Hello Paris"/>
              </a:rPr>
              <a:t>Testes unitários - crud de aulas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0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799348">
            <a:off x="-3522589" y="-523581"/>
            <a:ext cx="16542981" cy="15430089"/>
          </a:xfrm>
          <a:custGeom>
            <a:avLst/>
            <a:gdLst/>
            <a:ahLst/>
            <a:cxnLst/>
            <a:rect r="r" b="b" t="t" l="l"/>
            <a:pathLst>
              <a:path h="15430089" w="16542981">
                <a:moveTo>
                  <a:pt x="0" y="0"/>
                </a:moveTo>
                <a:lnTo>
                  <a:pt x="16542981" y="0"/>
                </a:lnTo>
                <a:lnTo>
                  <a:pt x="16542981" y="15430089"/>
                </a:lnTo>
                <a:lnTo>
                  <a:pt x="0" y="154300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8388253">
            <a:off x="12678107" y="6003497"/>
            <a:ext cx="12033852" cy="11224302"/>
          </a:xfrm>
          <a:custGeom>
            <a:avLst/>
            <a:gdLst/>
            <a:ahLst/>
            <a:cxnLst/>
            <a:rect r="r" b="b" t="t" l="l"/>
            <a:pathLst>
              <a:path h="11224302" w="12033852">
                <a:moveTo>
                  <a:pt x="0" y="0"/>
                </a:moveTo>
                <a:lnTo>
                  <a:pt x="12033852" y="0"/>
                </a:lnTo>
                <a:lnTo>
                  <a:pt x="12033852" y="11224302"/>
                </a:lnTo>
                <a:lnTo>
                  <a:pt x="0" y="112243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895320">
            <a:off x="15325982" y="-853765"/>
            <a:ext cx="3866635" cy="3866635"/>
          </a:xfrm>
          <a:custGeom>
            <a:avLst/>
            <a:gdLst/>
            <a:ahLst/>
            <a:cxnLst/>
            <a:rect r="r" b="b" t="t" l="l"/>
            <a:pathLst>
              <a:path h="3866635" w="3866635">
                <a:moveTo>
                  <a:pt x="0" y="0"/>
                </a:moveTo>
                <a:lnTo>
                  <a:pt x="3866636" y="0"/>
                </a:lnTo>
                <a:lnTo>
                  <a:pt x="3866636" y="3866635"/>
                </a:lnTo>
                <a:lnTo>
                  <a:pt x="0" y="38666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428863" y="660532"/>
            <a:ext cx="9430274" cy="1784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08"/>
              </a:lnSpc>
            </a:pPr>
            <a:r>
              <a:rPr lang="en-US" sz="9363">
                <a:solidFill>
                  <a:srgbClr val="FFFFFF"/>
                </a:solidFill>
                <a:latin typeface="Hello Paris"/>
                <a:ea typeface="Hello Paris"/>
                <a:cs typeface="Hello Paris"/>
                <a:sym typeface="Hello Paris"/>
              </a:rPr>
              <a:t>casos de teste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94531" y="2359660"/>
            <a:ext cx="12698939" cy="6188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86119" indent="-343059" lvl="1">
              <a:lnSpc>
                <a:spcPts val="4449"/>
              </a:lnSpc>
              <a:buFont typeface="Arial"/>
              <a:buChar char="•"/>
            </a:pPr>
            <a:r>
              <a:rPr lang="en-US" sz="317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CT-CRUD-01 (Criação): Valida a adição de uma nova aula com dados válidos, verificando a geração de ID numérico e a expansão da lista. </a:t>
            </a:r>
          </a:p>
          <a:p>
            <a:pPr algn="just" marL="686119" indent="-343059" lvl="1">
              <a:lnSpc>
                <a:spcPts val="4449"/>
              </a:lnSpc>
              <a:buFont typeface="Arial"/>
              <a:buChar char="•"/>
            </a:pPr>
            <a:r>
              <a:rPr lang="en-US" sz="317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CT-CRUD-02 (Consulta): Confirma a busca por ID, garantindo o retorno completo e correto dos dados salvos. </a:t>
            </a:r>
          </a:p>
          <a:p>
            <a:pPr algn="just" marL="686119" indent="-343059" lvl="1">
              <a:lnSpc>
                <a:spcPts val="4449"/>
              </a:lnSpc>
              <a:buFont typeface="Arial"/>
              <a:buChar char="•"/>
            </a:pPr>
            <a:r>
              <a:rPr lang="en-US" sz="317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CT-CRUD-03 (Edição): Testa a atualização de dados, assegurando que o registro antigo seja devidamente sobrescrito. </a:t>
            </a:r>
          </a:p>
          <a:p>
            <a:pPr algn="just" marL="686119" indent="-343059" lvl="1">
              <a:lnSpc>
                <a:spcPts val="4449"/>
              </a:lnSpc>
              <a:buFont typeface="Arial"/>
              <a:buChar char="•"/>
            </a:pPr>
            <a:r>
              <a:rPr lang="en-US" sz="317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CT-CRUD-04 (Exclusão): Valida a remoção do registro, garantindo a redução da lista e que buscas futuras retornem nulo.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0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09842">
            <a:off x="-1186955" y="-2656312"/>
            <a:ext cx="7143278" cy="6662731"/>
          </a:xfrm>
          <a:custGeom>
            <a:avLst/>
            <a:gdLst/>
            <a:ahLst/>
            <a:cxnLst/>
            <a:rect r="r" b="b" t="t" l="l"/>
            <a:pathLst>
              <a:path h="6662731" w="7143278">
                <a:moveTo>
                  <a:pt x="0" y="0"/>
                </a:moveTo>
                <a:lnTo>
                  <a:pt x="7143278" y="0"/>
                </a:lnTo>
                <a:lnTo>
                  <a:pt x="7143278" y="6662731"/>
                </a:lnTo>
                <a:lnTo>
                  <a:pt x="0" y="66627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444303">
            <a:off x="13097902" y="4562494"/>
            <a:ext cx="9982839" cy="9311266"/>
          </a:xfrm>
          <a:custGeom>
            <a:avLst/>
            <a:gdLst/>
            <a:ahLst/>
            <a:cxnLst/>
            <a:rect r="r" b="b" t="t" l="l"/>
            <a:pathLst>
              <a:path h="9311266" w="9982839">
                <a:moveTo>
                  <a:pt x="0" y="0"/>
                </a:moveTo>
                <a:lnTo>
                  <a:pt x="9982838" y="0"/>
                </a:lnTo>
                <a:lnTo>
                  <a:pt x="9982838" y="9311266"/>
                </a:lnTo>
                <a:lnTo>
                  <a:pt x="0" y="93112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309931" y="7197468"/>
            <a:ext cx="2374247" cy="2374247"/>
          </a:xfrm>
          <a:custGeom>
            <a:avLst/>
            <a:gdLst/>
            <a:ahLst/>
            <a:cxnLst/>
            <a:rect r="r" b="b" t="t" l="l"/>
            <a:pathLst>
              <a:path h="2374247" w="2374247">
                <a:moveTo>
                  <a:pt x="0" y="0"/>
                </a:moveTo>
                <a:lnTo>
                  <a:pt x="2374247" y="0"/>
                </a:lnTo>
                <a:lnTo>
                  <a:pt x="2374247" y="2374248"/>
                </a:lnTo>
                <a:lnTo>
                  <a:pt x="0" y="23742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45002" y="426340"/>
            <a:ext cx="2374247" cy="2374247"/>
          </a:xfrm>
          <a:custGeom>
            <a:avLst/>
            <a:gdLst/>
            <a:ahLst/>
            <a:cxnLst/>
            <a:rect r="r" b="b" t="t" l="l"/>
            <a:pathLst>
              <a:path h="2374247" w="2374247">
                <a:moveTo>
                  <a:pt x="0" y="0"/>
                </a:moveTo>
                <a:lnTo>
                  <a:pt x="2374248" y="0"/>
                </a:lnTo>
                <a:lnTo>
                  <a:pt x="2374248" y="2374247"/>
                </a:lnTo>
                <a:lnTo>
                  <a:pt x="0" y="23742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366827" y="1740151"/>
            <a:ext cx="12090472" cy="6282743"/>
          </a:xfrm>
          <a:custGeom>
            <a:avLst/>
            <a:gdLst/>
            <a:ahLst/>
            <a:cxnLst/>
            <a:rect r="r" b="b" t="t" l="l"/>
            <a:pathLst>
              <a:path h="6282743" w="12090472">
                <a:moveTo>
                  <a:pt x="0" y="0"/>
                </a:moveTo>
                <a:lnTo>
                  <a:pt x="12090472" y="0"/>
                </a:lnTo>
                <a:lnTo>
                  <a:pt x="12090472" y="6282744"/>
                </a:lnTo>
                <a:lnTo>
                  <a:pt x="0" y="62827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37782" y="8253095"/>
            <a:ext cx="15148563" cy="100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suíte de testes foi executada de maneira automatizada  com 100% de taxa de sucesso (4 de 4 testes aprovados sem falhas)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792762" y="-44701"/>
            <a:ext cx="11238602" cy="1784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08"/>
              </a:lnSpc>
            </a:pPr>
            <a:r>
              <a:rPr lang="en-US" sz="9363">
                <a:solidFill>
                  <a:srgbClr val="FFFFFF"/>
                </a:solidFill>
                <a:latin typeface="Hello Paris"/>
                <a:ea typeface="Hello Paris"/>
                <a:cs typeface="Hello Paris"/>
                <a:sym typeface="Hello Paris"/>
              </a:rPr>
              <a:t>execução e evidências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0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799348">
            <a:off x="-3522589" y="-523581"/>
            <a:ext cx="16542981" cy="15430089"/>
          </a:xfrm>
          <a:custGeom>
            <a:avLst/>
            <a:gdLst/>
            <a:ahLst/>
            <a:cxnLst/>
            <a:rect r="r" b="b" t="t" l="l"/>
            <a:pathLst>
              <a:path h="15430089" w="16542981">
                <a:moveTo>
                  <a:pt x="0" y="0"/>
                </a:moveTo>
                <a:lnTo>
                  <a:pt x="16542981" y="0"/>
                </a:lnTo>
                <a:lnTo>
                  <a:pt x="16542981" y="15430089"/>
                </a:lnTo>
                <a:lnTo>
                  <a:pt x="0" y="154300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8388253">
            <a:off x="12678107" y="6003497"/>
            <a:ext cx="12033852" cy="11224302"/>
          </a:xfrm>
          <a:custGeom>
            <a:avLst/>
            <a:gdLst/>
            <a:ahLst/>
            <a:cxnLst/>
            <a:rect r="r" b="b" t="t" l="l"/>
            <a:pathLst>
              <a:path h="11224302" w="12033852">
                <a:moveTo>
                  <a:pt x="0" y="0"/>
                </a:moveTo>
                <a:lnTo>
                  <a:pt x="12033852" y="0"/>
                </a:lnTo>
                <a:lnTo>
                  <a:pt x="12033852" y="11224302"/>
                </a:lnTo>
                <a:lnTo>
                  <a:pt x="0" y="112243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895320">
            <a:off x="15325982" y="-853765"/>
            <a:ext cx="3866635" cy="3866635"/>
          </a:xfrm>
          <a:custGeom>
            <a:avLst/>
            <a:gdLst/>
            <a:ahLst/>
            <a:cxnLst/>
            <a:rect r="r" b="b" t="t" l="l"/>
            <a:pathLst>
              <a:path h="3866635" w="3866635">
                <a:moveTo>
                  <a:pt x="0" y="0"/>
                </a:moveTo>
                <a:lnTo>
                  <a:pt x="3866636" y="0"/>
                </a:lnTo>
                <a:lnTo>
                  <a:pt x="3866636" y="3866635"/>
                </a:lnTo>
                <a:lnTo>
                  <a:pt x="0" y="38666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30120" y="2038806"/>
            <a:ext cx="7237563" cy="6503530"/>
          </a:xfrm>
          <a:custGeom>
            <a:avLst/>
            <a:gdLst/>
            <a:ahLst/>
            <a:cxnLst/>
            <a:rect r="r" b="b" t="t" l="l"/>
            <a:pathLst>
              <a:path h="6503530" w="7237563">
                <a:moveTo>
                  <a:pt x="0" y="0"/>
                </a:moveTo>
                <a:lnTo>
                  <a:pt x="7237563" y="0"/>
                </a:lnTo>
                <a:lnTo>
                  <a:pt x="7237563" y="6503531"/>
                </a:lnTo>
                <a:lnTo>
                  <a:pt x="0" y="65035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506020" y="2032252"/>
            <a:ext cx="7409793" cy="6510084"/>
          </a:xfrm>
          <a:custGeom>
            <a:avLst/>
            <a:gdLst/>
            <a:ahLst/>
            <a:cxnLst/>
            <a:rect r="r" b="b" t="t" l="l"/>
            <a:pathLst>
              <a:path h="6510084" w="7409793">
                <a:moveTo>
                  <a:pt x="0" y="0"/>
                </a:moveTo>
                <a:lnTo>
                  <a:pt x="7409793" y="0"/>
                </a:lnTo>
                <a:lnTo>
                  <a:pt x="7409793" y="6510085"/>
                </a:lnTo>
                <a:lnTo>
                  <a:pt x="0" y="65100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428863" y="247399"/>
            <a:ext cx="9430274" cy="1784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08"/>
              </a:lnSpc>
            </a:pPr>
            <a:r>
              <a:rPr lang="en-US" sz="9363">
                <a:solidFill>
                  <a:srgbClr val="FFFFFF"/>
                </a:solidFill>
                <a:latin typeface="Hello Paris"/>
                <a:ea typeface="Hello Paris"/>
                <a:cs typeface="Hello Paris"/>
                <a:sym typeface="Hello Paris"/>
              </a:rPr>
              <a:t>Testes E2E - aluno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30120" y="8833485"/>
            <a:ext cx="2836783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E2E-01 e E2E-02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06020" y="8833485"/>
            <a:ext cx="2935129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E2E-03 e E2E-04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0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799348">
            <a:off x="-3522589" y="-523581"/>
            <a:ext cx="16542981" cy="15430089"/>
          </a:xfrm>
          <a:custGeom>
            <a:avLst/>
            <a:gdLst/>
            <a:ahLst/>
            <a:cxnLst/>
            <a:rect r="r" b="b" t="t" l="l"/>
            <a:pathLst>
              <a:path h="15430089" w="16542981">
                <a:moveTo>
                  <a:pt x="0" y="0"/>
                </a:moveTo>
                <a:lnTo>
                  <a:pt x="16542981" y="0"/>
                </a:lnTo>
                <a:lnTo>
                  <a:pt x="16542981" y="15430089"/>
                </a:lnTo>
                <a:lnTo>
                  <a:pt x="0" y="154300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8388253">
            <a:off x="12678107" y="6003497"/>
            <a:ext cx="12033852" cy="11224302"/>
          </a:xfrm>
          <a:custGeom>
            <a:avLst/>
            <a:gdLst/>
            <a:ahLst/>
            <a:cxnLst/>
            <a:rect r="r" b="b" t="t" l="l"/>
            <a:pathLst>
              <a:path h="11224302" w="12033852">
                <a:moveTo>
                  <a:pt x="0" y="0"/>
                </a:moveTo>
                <a:lnTo>
                  <a:pt x="12033852" y="0"/>
                </a:lnTo>
                <a:lnTo>
                  <a:pt x="12033852" y="11224302"/>
                </a:lnTo>
                <a:lnTo>
                  <a:pt x="0" y="112243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895320">
            <a:off x="15325982" y="-853765"/>
            <a:ext cx="3866635" cy="3866635"/>
          </a:xfrm>
          <a:custGeom>
            <a:avLst/>
            <a:gdLst/>
            <a:ahLst/>
            <a:cxnLst/>
            <a:rect r="r" b="b" t="t" l="l"/>
            <a:pathLst>
              <a:path h="3866635" w="3866635">
                <a:moveTo>
                  <a:pt x="0" y="0"/>
                </a:moveTo>
                <a:lnTo>
                  <a:pt x="3866636" y="0"/>
                </a:lnTo>
                <a:lnTo>
                  <a:pt x="3866636" y="3866635"/>
                </a:lnTo>
                <a:lnTo>
                  <a:pt x="0" y="38666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416744" y="1791004"/>
            <a:ext cx="13454512" cy="7158895"/>
          </a:xfrm>
          <a:custGeom>
            <a:avLst/>
            <a:gdLst/>
            <a:ahLst/>
            <a:cxnLst/>
            <a:rect r="r" b="b" t="t" l="l"/>
            <a:pathLst>
              <a:path h="7158895" w="13454512">
                <a:moveTo>
                  <a:pt x="0" y="0"/>
                </a:moveTo>
                <a:lnTo>
                  <a:pt x="13454512" y="0"/>
                </a:lnTo>
                <a:lnTo>
                  <a:pt x="13454512" y="7158895"/>
                </a:lnTo>
                <a:lnTo>
                  <a:pt x="0" y="71588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428863" y="6151"/>
            <a:ext cx="9430274" cy="1784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08"/>
              </a:lnSpc>
            </a:pPr>
            <a:r>
              <a:rPr lang="en-US" sz="9363">
                <a:solidFill>
                  <a:srgbClr val="FFFFFF"/>
                </a:solidFill>
                <a:latin typeface="Hello Paris"/>
                <a:ea typeface="Hello Paris"/>
                <a:cs typeface="Hello Paris"/>
                <a:sym typeface="Hello Paris"/>
              </a:rPr>
              <a:t>Testes E2E - aluno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774315" y="9191625"/>
            <a:ext cx="10724793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Os quatro cenários E2E foram executados e aprovados no Cypress.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0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09842">
            <a:off x="-1186955" y="-2656312"/>
            <a:ext cx="7143278" cy="6662731"/>
          </a:xfrm>
          <a:custGeom>
            <a:avLst/>
            <a:gdLst/>
            <a:ahLst/>
            <a:cxnLst/>
            <a:rect r="r" b="b" t="t" l="l"/>
            <a:pathLst>
              <a:path h="6662731" w="7143278">
                <a:moveTo>
                  <a:pt x="0" y="0"/>
                </a:moveTo>
                <a:lnTo>
                  <a:pt x="7143278" y="0"/>
                </a:lnTo>
                <a:lnTo>
                  <a:pt x="7143278" y="6662731"/>
                </a:lnTo>
                <a:lnTo>
                  <a:pt x="0" y="66627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444303">
            <a:off x="13097902" y="4562494"/>
            <a:ext cx="9982839" cy="9311266"/>
          </a:xfrm>
          <a:custGeom>
            <a:avLst/>
            <a:gdLst/>
            <a:ahLst/>
            <a:cxnLst/>
            <a:rect r="r" b="b" t="t" l="l"/>
            <a:pathLst>
              <a:path h="9311266" w="9982839">
                <a:moveTo>
                  <a:pt x="0" y="0"/>
                </a:moveTo>
                <a:lnTo>
                  <a:pt x="9982838" y="0"/>
                </a:lnTo>
                <a:lnTo>
                  <a:pt x="9982838" y="9311266"/>
                </a:lnTo>
                <a:lnTo>
                  <a:pt x="0" y="93112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309931" y="7197468"/>
            <a:ext cx="2374247" cy="2374247"/>
          </a:xfrm>
          <a:custGeom>
            <a:avLst/>
            <a:gdLst/>
            <a:ahLst/>
            <a:cxnLst/>
            <a:rect r="r" b="b" t="t" l="l"/>
            <a:pathLst>
              <a:path h="2374247" w="2374247">
                <a:moveTo>
                  <a:pt x="0" y="0"/>
                </a:moveTo>
                <a:lnTo>
                  <a:pt x="2374247" y="0"/>
                </a:lnTo>
                <a:lnTo>
                  <a:pt x="2374247" y="2374248"/>
                </a:lnTo>
                <a:lnTo>
                  <a:pt x="0" y="23742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45002" y="426340"/>
            <a:ext cx="2374247" cy="2374247"/>
          </a:xfrm>
          <a:custGeom>
            <a:avLst/>
            <a:gdLst/>
            <a:ahLst/>
            <a:cxnLst/>
            <a:rect r="r" b="b" t="t" l="l"/>
            <a:pathLst>
              <a:path h="2374247" w="2374247">
                <a:moveTo>
                  <a:pt x="0" y="0"/>
                </a:moveTo>
                <a:lnTo>
                  <a:pt x="2374248" y="0"/>
                </a:lnTo>
                <a:lnTo>
                  <a:pt x="2374248" y="2374247"/>
                </a:lnTo>
                <a:lnTo>
                  <a:pt x="0" y="23742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189984" y="666750"/>
            <a:ext cx="12124858" cy="1781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08"/>
              </a:lnSpc>
            </a:pPr>
            <a:r>
              <a:rPr lang="en-US" sz="9363">
                <a:solidFill>
                  <a:srgbClr val="FFFFFF"/>
                </a:solidFill>
                <a:latin typeface="Hello Paris"/>
                <a:ea typeface="Hello Paris"/>
                <a:cs typeface="Hello Paris"/>
                <a:sym typeface="Hello Paris"/>
              </a:rPr>
              <a:t>Testes de caixa cinza-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91095" y="3877605"/>
            <a:ext cx="11522636" cy="1645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2"/>
              </a:lnSpc>
            </a:pPr>
            <a:r>
              <a:rPr lang="en-US" sz="308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Objetivo</a:t>
            </a:r>
            <a:r>
              <a:rPr lang="en-US" sz="308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Verificar se as funções relacionadas às mensagens do SAC estão funcionando corretamente.</a:t>
            </a:r>
          </a:p>
          <a:p>
            <a:pPr algn="l">
              <a:lnSpc>
                <a:spcPts val="4322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3491095" y="5243803"/>
            <a:ext cx="14601212" cy="3831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68"/>
              </a:lnSpc>
            </a:pPr>
            <a:r>
              <a:rPr lang="en-US" sz="3334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 que foi testado:</a:t>
            </a:r>
          </a:p>
          <a:p>
            <a:pPr algn="just">
              <a:lnSpc>
                <a:spcPts val="4668"/>
              </a:lnSpc>
            </a:pPr>
            <a:r>
              <a:rPr lang="en-US" sz="3334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• Criar: cadastrar uma nova mensagem.</a:t>
            </a:r>
          </a:p>
          <a:p>
            <a:pPr algn="just">
              <a:lnSpc>
                <a:spcPts val="4668"/>
              </a:lnSpc>
            </a:pPr>
            <a:r>
              <a:rPr lang="en-US" sz="3334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• Consultar: listar as mensagens cadastradas.</a:t>
            </a:r>
          </a:p>
          <a:p>
            <a:pPr algn="just">
              <a:lnSpc>
                <a:spcPts val="4668"/>
              </a:lnSpc>
            </a:pPr>
            <a:r>
              <a:rPr lang="en-US" sz="3334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• Atualizar: modificar uma mensagem existente.</a:t>
            </a:r>
          </a:p>
          <a:p>
            <a:pPr algn="just">
              <a:lnSpc>
                <a:spcPts val="4668"/>
              </a:lnSpc>
            </a:pPr>
            <a:r>
              <a:rPr lang="en-US" sz="3334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• Excluir: remover uma mensagem cadastrada.</a:t>
            </a:r>
          </a:p>
          <a:p>
            <a:pPr algn="just">
              <a:lnSpc>
                <a:spcPts val="3501"/>
              </a:lnSpc>
            </a:pPr>
          </a:p>
          <a:p>
            <a:pPr algn="just">
              <a:lnSpc>
                <a:spcPts val="3501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5591373" y="2378946"/>
            <a:ext cx="7105254" cy="771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CRUD</a:t>
            </a:r>
            <a:r>
              <a:rPr lang="en-US" sz="4499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 DE CHAMADOS /SAC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0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951330">
            <a:off x="-10619159" y="1585416"/>
            <a:ext cx="17145021" cy="15991629"/>
          </a:xfrm>
          <a:custGeom>
            <a:avLst/>
            <a:gdLst/>
            <a:ahLst/>
            <a:cxnLst/>
            <a:rect r="r" b="b" t="t" l="l"/>
            <a:pathLst>
              <a:path h="15991629" w="17145021">
                <a:moveTo>
                  <a:pt x="0" y="0"/>
                </a:moveTo>
                <a:lnTo>
                  <a:pt x="17145022" y="0"/>
                </a:lnTo>
                <a:lnTo>
                  <a:pt x="17145022" y="15991629"/>
                </a:lnTo>
                <a:lnTo>
                  <a:pt x="0" y="159916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8882902">
            <a:off x="13925438" y="-4185585"/>
            <a:ext cx="13923189" cy="12986539"/>
          </a:xfrm>
          <a:custGeom>
            <a:avLst/>
            <a:gdLst/>
            <a:ahLst/>
            <a:cxnLst/>
            <a:rect r="r" b="b" t="t" l="l"/>
            <a:pathLst>
              <a:path h="12986539" w="13923189">
                <a:moveTo>
                  <a:pt x="0" y="0"/>
                </a:moveTo>
                <a:lnTo>
                  <a:pt x="13923189" y="0"/>
                </a:lnTo>
                <a:lnTo>
                  <a:pt x="13923189" y="12986538"/>
                </a:lnTo>
                <a:lnTo>
                  <a:pt x="0" y="129865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4337076"/>
            <a:ext cx="9111292" cy="4976115"/>
          </a:xfrm>
          <a:custGeom>
            <a:avLst/>
            <a:gdLst/>
            <a:ahLst/>
            <a:cxnLst/>
            <a:rect r="r" b="b" t="t" l="l"/>
            <a:pathLst>
              <a:path h="4976115" w="9111292">
                <a:moveTo>
                  <a:pt x="0" y="0"/>
                </a:moveTo>
                <a:lnTo>
                  <a:pt x="9111292" y="0"/>
                </a:lnTo>
                <a:lnTo>
                  <a:pt x="9111292" y="4976116"/>
                </a:lnTo>
                <a:lnTo>
                  <a:pt x="0" y="49761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069" r="-4809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34018" y="4259961"/>
            <a:ext cx="8182650" cy="4998339"/>
          </a:xfrm>
          <a:custGeom>
            <a:avLst/>
            <a:gdLst/>
            <a:ahLst/>
            <a:cxnLst/>
            <a:rect r="r" b="b" t="t" l="l"/>
            <a:pathLst>
              <a:path h="4998339" w="8182650">
                <a:moveTo>
                  <a:pt x="0" y="0"/>
                </a:moveTo>
                <a:lnTo>
                  <a:pt x="8182650" y="0"/>
                </a:lnTo>
                <a:lnTo>
                  <a:pt x="8182650" y="4998339"/>
                </a:lnTo>
                <a:lnTo>
                  <a:pt x="0" y="49983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915" t="0" r="-61533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892708" y="468898"/>
            <a:ext cx="9430274" cy="1784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08"/>
              </a:lnSpc>
            </a:pPr>
            <a:r>
              <a:rPr lang="en-US" sz="9363">
                <a:solidFill>
                  <a:srgbClr val="FFFFFF"/>
                </a:solidFill>
                <a:latin typeface="Hello Paris"/>
                <a:ea typeface="Hello Paris"/>
                <a:cs typeface="Hello Paris"/>
                <a:sym typeface="Hello Paris"/>
              </a:rPr>
              <a:t>Testes do sac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44330" y="2740484"/>
            <a:ext cx="7910633" cy="1903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Tela do SAC (Fale Comigo): Interface utilizada pelo usuário para preencher e enviar mensagens de suporte.</a:t>
            </a:r>
          </a:p>
          <a:p>
            <a:pPr algn="ctr">
              <a:lnSpc>
                <a:spcPts val="377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443506"/>
            <a:ext cx="7827885" cy="174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Resultado dos testes automatizados do SAC: Execução dos testes com Jest, com os quatro testes aprovados para as operações de criação, consulta, atualização e exclusão de mensagens.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0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204988">
            <a:off x="-1522453" y="7690687"/>
            <a:ext cx="8586714" cy="8009063"/>
          </a:xfrm>
          <a:custGeom>
            <a:avLst/>
            <a:gdLst/>
            <a:ahLst/>
            <a:cxnLst/>
            <a:rect r="r" b="b" t="t" l="l"/>
            <a:pathLst>
              <a:path h="8009063" w="8586714">
                <a:moveTo>
                  <a:pt x="0" y="0"/>
                </a:moveTo>
                <a:lnTo>
                  <a:pt x="8586715" y="0"/>
                </a:lnTo>
                <a:lnTo>
                  <a:pt x="8586715" y="8009063"/>
                </a:lnTo>
                <a:lnTo>
                  <a:pt x="0" y="80090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817545">
            <a:off x="14911766" y="-3546889"/>
            <a:ext cx="12338280" cy="11508250"/>
          </a:xfrm>
          <a:custGeom>
            <a:avLst/>
            <a:gdLst/>
            <a:ahLst/>
            <a:cxnLst/>
            <a:rect r="r" b="b" t="t" l="l"/>
            <a:pathLst>
              <a:path h="11508250" w="12338280">
                <a:moveTo>
                  <a:pt x="0" y="0"/>
                </a:moveTo>
                <a:lnTo>
                  <a:pt x="12338280" y="0"/>
                </a:lnTo>
                <a:lnTo>
                  <a:pt x="12338280" y="11508250"/>
                </a:lnTo>
                <a:lnTo>
                  <a:pt x="0" y="11508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96657" y="426340"/>
            <a:ext cx="2374247" cy="2374247"/>
          </a:xfrm>
          <a:custGeom>
            <a:avLst/>
            <a:gdLst/>
            <a:ahLst/>
            <a:cxnLst/>
            <a:rect r="r" b="b" t="t" l="l"/>
            <a:pathLst>
              <a:path h="2374247" w="2374247">
                <a:moveTo>
                  <a:pt x="0" y="0"/>
                </a:moveTo>
                <a:lnTo>
                  <a:pt x="2374248" y="0"/>
                </a:lnTo>
                <a:lnTo>
                  <a:pt x="2374248" y="2374247"/>
                </a:lnTo>
                <a:lnTo>
                  <a:pt x="0" y="23742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09551" y="3764943"/>
            <a:ext cx="5621556" cy="3463088"/>
            <a:chOff x="0" y="0"/>
            <a:chExt cx="1480574" cy="9120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80574" cy="912089"/>
            </a:xfrm>
            <a:custGeom>
              <a:avLst/>
              <a:gdLst/>
              <a:ahLst/>
              <a:cxnLst/>
              <a:rect r="r" b="b" t="t" l="l"/>
              <a:pathLst>
                <a:path h="912089" w="1480574">
                  <a:moveTo>
                    <a:pt x="70236" y="0"/>
                  </a:moveTo>
                  <a:lnTo>
                    <a:pt x="1410338" y="0"/>
                  </a:lnTo>
                  <a:cubicBezTo>
                    <a:pt x="1428966" y="0"/>
                    <a:pt x="1446831" y="7400"/>
                    <a:pt x="1460003" y="20572"/>
                  </a:cubicBezTo>
                  <a:cubicBezTo>
                    <a:pt x="1473175" y="33744"/>
                    <a:pt x="1480574" y="51609"/>
                    <a:pt x="1480574" y="70236"/>
                  </a:cubicBezTo>
                  <a:lnTo>
                    <a:pt x="1480574" y="841853"/>
                  </a:lnTo>
                  <a:cubicBezTo>
                    <a:pt x="1480574" y="880643"/>
                    <a:pt x="1449129" y="912089"/>
                    <a:pt x="1410338" y="912089"/>
                  </a:cubicBezTo>
                  <a:lnTo>
                    <a:pt x="70236" y="912089"/>
                  </a:lnTo>
                  <a:cubicBezTo>
                    <a:pt x="51609" y="912089"/>
                    <a:pt x="33744" y="904689"/>
                    <a:pt x="20572" y="891517"/>
                  </a:cubicBezTo>
                  <a:cubicBezTo>
                    <a:pt x="7400" y="878345"/>
                    <a:pt x="0" y="860481"/>
                    <a:pt x="0" y="841853"/>
                  </a:cubicBezTo>
                  <a:lnTo>
                    <a:pt x="0" y="70236"/>
                  </a:lnTo>
                  <a:cubicBezTo>
                    <a:pt x="0" y="31446"/>
                    <a:pt x="31446" y="0"/>
                    <a:pt x="70236" y="0"/>
                  </a:cubicBezTo>
                  <a:close/>
                </a:path>
              </a:pathLst>
            </a:custGeom>
            <a:solidFill>
              <a:srgbClr val="DEBB7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480574" cy="9787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99"/>
                </a:lnSpc>
              </a:pPr>
              <a:r>
                <a:rPr lang="en-US" sz="3499">
                  <a:solidFill>
                    <a:srgbClr val="FFFFFF"/>
                  </a:solidFill>
                  <a:latin typeface="Alice"/>
                  <a:ea typeface="Alice"/>
                  <a:cs typeface="Alice"/>
                  <a:sym typeface="Alice"/>
                </a:rPr>
                <a:t>   </a:t>
              </a:r>
              <a:r>
                <a:rPr lang="en-US" sz="3499">
                  <a:solidFill>
                    <a:srgbClr val="FFFFFF"/>
                  </a:solidFill>
                  <a:latin typeface="Alice Bold"/>
                  <a:ea typeface="Alice Bold"/>
                  <a:cs typeface="Alice Bold"/>
                  <a:sym typeface="Alice Bold"/>
                </a:rPr>
                <a:t>Módulo SAC</a:t>
              </a:r>
              <a:r>
                <a:rPr lang="en-US" sz="3499">
                  <a:solidFill>
                    <a:srgbClr val="FFFFFF"/>
                  </a:solidFill>
                  <a:latin typeface="Alice"/>
                  <a:ea typeface="Alice"/>
                  <a:cs typeface="Alice"/>
                  <a:sym typeface="Alice"/>
                </a:rPr>
                <a:t> </a:t>
              </a:r>
            </a:p>
            <a:p>
              <a:pPr algn="ctr">
                <a:lnSpc>
                  <a:spcPts val="4899"/>
                </a:lnSpc>
                <a:spcBef>
                  <a:spcPct val="0"/>
                </a:spcBef>
              </a:pPr>
              <a:r>
                <a:rPr lang="en-US" sz="3499">
                  <a:solidFill>
                    <a:srgbClr val="FFFFFF"/>
                  </a:solidFill>
                  <a:latin typeface="Alice"/>
                  <a:ea typeface="Alice"/>
                  <a:cs typeface="Alice"/>
                  <a:sym typeface="Alice"/>
                </a:rPr>
                <a:t> Formulário "Fale com a gente" e a lista "Mensagens recebidas" 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669697" y="667339"/>
            <a:ext cx="10948606" cy="1204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91"/>
              </a:lnSpc>
            </a:pPr>
            <a:r>
              <a:rPr lang="en-US" sz="7065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Testes Unitários - SAC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487499" y="3764943"/>
            <a:ext cx="5621556" cy="3463088"/>
            <a:chOff x="0" y="0"/>
            <a:chExt cx="1480574" cy="91208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80574" cy="912089"/>
            </a:xfrm>
            <a:custGeom>
              <a:avLst/>
              <a:gdLst/>
              <a:ahLst/>
              <a:cxnLst/>
              <a:rect r="r" b="b" t="t" l="l"/>
              <a:pathLst>
                <a:path h="912089" w="1480574">
                  <a:moveTo>
                    <a:pt x="70236" y="0"/>
                  </a:moveTo>
                  <a:lnTo>
                    <a:pt x="1410338" y="0"/>
                  </a:lnTo>
                  <a:cubicBezTo>
                    <a:pt x="1428966" y="0"/>
                    <a:pt x="1446831" y="7400"/>
                    <a:pt x="1460003" y="20572"/>
                  </a:cubicBezTo>
                  <a:cubicBezTo>
                    <a:pt x="1473175" y="33744"/>
                    <a:pt x="1480574" y="51609"/>
                    <a:pt x="1480574" y="70236"/>
                  </a:cubicBezTo>
                  <a:lnTo>
                    <a:pt x="1480574" y="841853"/>
                  </a:lnTo>
                  <a:cubicBezTo>
                    <a:pt x="1480574" y="880643"/>
                    <a:pt x="1449129" y="912089"/>
                    <a:pt x="1410338" y="912089"/>
                  </a:cubicBezTo>
                  <a:lnTo>
                    <a:pt x="70236" y="912089"/>
                  </a:lnTo>
                  <a:cubicBezTo>
                    <a:pt x="51609" y="912089"/>
                    <a:pt x="33744" y="904689"/>
                    <a:pt x="20572" y="891517"/>
                  </a:cubicBezTo>
                  <a:cubicBezTo>
                    <a:pt x="7400" y="878345"/>
                    <a:pt x="0" y="860481"/>
                    <a:pt x="0" y="841853"/>
                  </a:cubicBezTo>
                  <a:lnTo>
                    <a:pt x="0" y="70236"/>
                  </a:lnTo>
                  <a:cubicBezTo>
                    <a:pt x="0" y="31446"/>
                    <a:pt x="31446" y="0"/>
                    <a:pt x="70236" y="0"/>
                  </a:cubicBezTo>
                  <a:close/>
                </a:path>
              </a:pathLst>
            </a:custGeom>
            <a:solidFill>
              <a:srgbClr val="DEBB7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480574" cy="9787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99"/>
                </a:lnSpc>
              </a:pPr>
              <a:r>
                <a:rPr lang="en-US" sz="3499">
                  <a:solidFill>
                    <a:srgbClr val="FFFFFF"/>
                  </a:solidFill>
                  <a:latin typeface="Alice"/>
                  <a:ea typeface="Alice"/>
                  <a:cs typeface="Alice"/>
                  <a:sym typeface="Alice"/>
                </a:rPr>
                <a:t>   </a:t>
              </a:r>
              <a:r>
                <a:rPr lang="en-US" sz="3499">
                  <a:solidFill>
                    <a:srgbClr val="FFFFFF"/>
                  </a:solidFill>
                  <a:latin typeface="Alice Bold"/>
                  <a:ea typeface="Alice Bold"/>
                  <a:cs typeface="Alice Bold"/>
                  <a:sym typeface="Alice Bold"/>
                </a:rPr>
                <a:t>Quatro Funções</a:t>
              </a:r>
              <a:r>
                <a:rPr lang="en-US" sz="3499">
                  <a:solidFill>
                    <a:srgbClr val="FFFFFF"/>
                  </a:solidFill>
                  <a:latin typeface="Alice"/>
                  <a:ea typeface="Alice"/>
                  <a:cs typeface="Alice"/>
                  <a:sym typeface="Alice"/>
                </a:rPr>
                <a:t> </a:t>
              </a:r>
            </a:p>
            <a:p>
              <a:pPr algn="ctr">
                <a:lnSpc>
                  <a:spcPts val="4899"/>
                </a:lnSpc>
                <a:spcBef>
                  <a:spcPct val="0"/>
                </a:spcBef>
              </a:pPr>
              <a:r>
                <a:rPr lang="en-US" sz="3499">
                  <a:solidFill>
                    <a:srgbClr val="FFFFFF"/>
                  </a:solidFill>
                  <a:latin typeface="Alice"/>
                  <a:ea typeface="Alice"/>
                  <a:cs typeface="Alice"/>
                  <a:sym typeface="Alice"/>
                </a:rPr>
                <a:t>criarMensagem, listarMensagens, atualizarMensagem e excluirMensagem 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366231" y="3764943"/>
            <a:ext cx="5268569" cy="3463088"/>
            <a:chOff x="0" y="0"/>
            <a:chExt cx="1387607" cy="91208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87607" cy="912089"/>
            </a:xfrm>
            <a:custGeom>
              <a:avLst/>
              <a:gdLst/>
              <a:ahLst/>
              <a:cxnLst/>
              <a:rect r="r" b="b" t="t" l="l"/>
              <a:pathLst>
                <a:path h="912089" w="1387607">
                  <a:moveTo>
                    <a:pt x="74942" y="0"/>
                  </a:moveTo>
                  <a:lnTo>
                    <a:pt x="1312665" y="0"/>
                  </a:lnTo>
                  <a:cubicBezTo>
                    <a:pt x="1332540" y="0"/>
                    <a:pt x="1351602" y="7896"/>
                    <a:pt x="1365657" y="21950"/>
                  </a:cubicBezTo>
                  <a:cubicBezTo>
                    <a:pt x="1379711" y="36004"/>
                    <a:pt x="1387607" y="55066"/>
                    <a:pt x="1387607" y="74942"/>
                  </a:cubicBezTo>
                  <a:lnTo>
                    <a:pt x="1387607" y="837147"/>
                  </a:lnTo>
                  <a:cubicBezTo>
                    <a:pt x="1387607" y="878536"/>
                    <a:pt x="1354054" y="912089"/>
                    <a:pt x="1312665" y="912089"/>
                  </a:cubicBezTo>
                  <a:lnTo>
                    <a:pt x="74942" y="912089"/>
                  </a:lnTo>
                  <a:cubicBezTo>
                    <a:pt x="33553" y="912089"/>
                    <a:pt x="0" y="878536"/>
                    <a:pt x="0" y="837147"/>
                  </a:cubicBezTo>
                  <a:lnTo>
                    <a:pt x="0" y="74942"/>
                  </a:lnTo>
                  <a:cubicBezTo>
                    <a:pt x="0" y="33553"/>
                    <a:pt x="33553" y="0"/>
                    <a:pt x="74942" y="0"/>
                  </a:cubicBezTo>
                  <a:close/>
                </a:path>
              </a:pathLst>
            </a:custGeom>
            <a:solidFill>
              <a:srgbClr val="DEBB7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1387607" cy="9787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99"/>
                </a:lnSpc>
                <a:spcBef>
                  <a:spcPct val="0"/>
                </a:spcBef>
              </a:pPr>
              <a:r>
                <a:rPr lang="en-US" sz="3499">
                  <a:solidFill>
                    <a:srgbClr val="FFFFFF"/>
                  </a:solidFill>
                  <a:latin typeface="Alice"/>
                  <a:ea typeface="Alice"/>
                  <a:cs typeface="Alice"/>
                  <a:sym typeface="Alice"/>
                </a:rPr>
                <a:t> </a:t>
              </a:r>
              <a:r>
                <a:rPr lang="en-US" sz="3499">
                  <a:solidFill>
                    <a:srgbClr val="FFFFFF"/>
                  </a:solidFill>
                  <a:latin typeface="Alice Bold"/>
                  <a:ea typeface="Alice Bold"/>
                  <a:cs typeface="Alice Bold"/>
                  <a:sym typeface="Alice Bold"/>
                </a:rPr>
                <a:t> 2 Tipos de Teste</a:t>
              </a:r>
              <a:r>
                <a:rPr lang="en-US" sz="3499">
                  <a:solidFill>
                    <a:srgbClr val="FFFFFF"/>
                  </a:solidFill>
                  <a:latin typeface="Alice"/>
                  <a:ea typeface="Alice"/>
                  <a:cs typeface="Alice"/>
                  <a:sym typeface="Alice"/>
                </a:rPr>
                <a:t> Automatizado com Jest e manual no navegador  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0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978792">
            <a:off x="-7501163" y="477955"/>
            <a:ext cx="10510585" cy="9803509"/>
          </a:xfrm>
          <a:custGeom>
            <a:avLst/>
            <a:gdLst/>
            <a:ahLst/>
            <a:cxnLst/>
            <a:rect r="r" b="b" t="t" l="l"/>
            <a:pathLst>
              <a:path h="9803509" w="10510585">
                <a:moveTo>
                  <a:pt x="0" y="0"/>
                </a:moveTo>
                <a:lnTo>
                  <a:pt x="10510584" y="0"/>
                </a:lnTo>
                <a:lnTo>
                  <a:pt x="10510584" y="9803508"/>
                </a:lnTo>
                <a:lnTo>
                  <a:pt x="0" y="98035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009187">
            <a:off x="13833073" y="-1006523"/>
            <a:ext cx="13554261" cy="12772463"/>
          </a:xfrm>
          <a:custGeom>
            <a:avLst/>
            <a:gdLst/>
            <a:ahLst/>
            <a:cxnLst/>
            <a:rect r="r" b="b" t="t" l="l"/>
            <a:pathLst>
              <a:path h="12772463" w="13554261">
                <a:moveTo>
                  <a:pt x="0" y="0"/>
                </a:moveTo>
                <a:lnTo>
                  <a:pt x="13554261" y="0"/>
                </a:lnTo>
                <a:lnTo>
                  <a:pt x="13554261" y="12772464"/>
                </a:lnTo>
                <a:lnTo>
                  <a:pt x="0" y="127724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14" t="0" r="-514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199185" y="297991"/>
            <a:ext cx="9430274" cy="1784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08"/>
              </a:lnSpc>
            </a:pPr>
            <a:r>
              <a:rPr lang="en-US" sz="9363">
                <a:solidFill>
                  <a:srgbClr val="FFFFFF"/>
                </a:solidFill>
                <a:latin typeface="Hello Paris"/>
                <a:ea typeface="Hello Paris"/>
                <a:cs typeface="Hello Paris"/>
                <a:sym typeface="Hello Paris"/>
              </a:rPr>
              <a:t>4 casos de teste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2300450"/>
            <a:ext cx="5449298" cy="2860184"/>
            <a:chOff x="0" y="0"/>
            <a:chExt cx="1435206" cy="7532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35206" cy="753299"/>
            </a:xfrm>
            <a:custGeom>
              <a:avLst/>
              <a:gdLst/>
              <a:ahLst/>
              <a:cxnLst/>
              <a:rect r="r" b="b" t="t" l="l"/>
              <a:pathLst>
                <a:path h="753299" w="1435206">
                  <a:moveTo>
                    <a:pt x="72457" y="0"/>
                  </a:moveTo>
                  <a:lnTo>
                    <a:pt x="1362749" y="0"/>
                  </a:lnTo>
                  <a:cubicBezTo>
                    <a:pt x="1381966" y="0"/>
                    <a:pt x="1400396" y="7634"/>
                    <a:pt x="1413984" y="21222"/>
                  </a:cubicBezTo>
                  <a:cubicBezTo>
                    <a:pt x="1427572" y="34810"/>
                    <a:pt x="1435206" y="53240"/>
                    <a:pt x="1435206" y="72457"/>
                  </a:cubicBezTo>
                  <a:lnTo>
                    <a:pt x="1435206" y="680843"/>
                  </a:lnTo>
                  <a:cubicBezTo>
                    <a:pt x="1435206" y="720859"/>
                    <a:pt x="1402766" y="753299"/>
                    <a:pt x="1362749" y="753299"/>
                  </a:cubicBezTo>
                  <a:lnTo>
                    <a:pt x="72457" y="753299"/>
                  </a:lnTo>
                  <a:cubicBezTo>
                    <a:pt x="53240" y="753299"/>
                    <a:pt x="34810" y="745666"/>
                    <a:pt x="21222" y="732077"/>
                  </a:cubicBezTo>
                  <a:cubicBezTo>
                    <a:pt x="7634" y="718489"/>
                    <a:pt x="0" y="700059"/>
                    <a:pt x="0" y="680843"/>
                  </a:cubicBezTo>
                  <a:lnTo>
                    <a:pt x="0" y="72457"/>
                  </a:lnTo>
                  <a:cubicBezTo>
                    <a:pt x="0" y="53240"/>
                    <a:pt x="7634" y="34810"/>
                    <a:pt x="21222" y="21222"/>
                  </a:cubicBezTo>
                  <a:cubicBezTo>
                    <a:pt x="34810" y="7634"/>
                    <a:pt x="53240" y="0"/>
                    <a:pt x="72457" y="0"/>
                  </a:cubicBezTo>
                  <a:close/>
                </a:path>
              </a:pathLst>
            </a:custGeom>
            <a:solidFill>
              <a:srgbClr val="DEBB7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435206" cy="819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99"/>
                </a:lnSpc>
              </a:pPr>
              <a:r>
                <a:rPr lang="en-US" sz="3499">
                  <a:solidFill>
                    <a:srgbClr val="FFFFFF"/>
                  </a:solidFill>
                  <a:latin typeface="Alice"/>
                  <a:ea typeface="Alice"/>
                  <a:cs typeface="Alice"/>
                  <a:sym typeface="Alice"/>
                </a:rPr>
                <a:t>  T-01 </a:t>
              </a:r>
            </a:p>
            <a:p>
              <a:pPr algn="ctr">
                <a:lnSpc>
                  <a:spcPts val="4899"/>
                </a:lnSpc>
                <a:spcBef>
                  <a:spcPct val="0"/>
                </a:spcBef>
              </a:pPr>
              <a:r>
                <a:rPr lang="en-US" sz="3499">
                  <a:solidFill>
                    <a:srgbClr val="FFFFFF"/>
                  </a:solidFill>
                  <a:latin typeface="Alice"/>
                  <a:ea typeface="Alice"/>
                  <a:cs typeface="Alice"/>
                  <a:sym typeface="Alice"/>
                </a:rPr>
                <a:t>Criar Lista passa a ter 1 item com os 4 dados enviados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009635" y="2300450"/>
            <a:ext cx="5449298" cy="2860184"/>
            <a:chOff x="0" y="0"/>
            <a:chExt cx="1435206" cy="75329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35206" cy="753299"/>
            </a:xfrm>
            <a:custGeom>
              <a:avLst/>
              <a:gdLst/>
              <a:ahLst/>
              <a:cxnLst/>
              <a:rect r="r" b="b" t="t" l="l"/>
              <a:pathLst>
                <a:path h="753299" w="1435206">
                  <a:moveTo>
                    <a:pt x="72457" y="0"/>
                  </a:moveTo>
                  <a:lnTo>
                    <a:pt x="1362749" y="0"/>
                  </a:lnTo>
                  <a:cubicBezTo>
                    <a:pt x="1381966" y="0"/>
                    <a:pt x="1400396" y="7634"/>
                    <a:pt x="1413984" y="21222"/>
                  </a:cubicBezTo>
                  <a:cubicBezTo>
                    <a:pt x="1427572" y="34810"/>
                    <a:pt x="1435206" y="53240"/>
                    <a:pt x="1435206" y="72457"/>
                  </a:cubicBezTo>
                  <a:lnTo>
                    <a:pt x="1435206" y="680843"/>
                  </a:lnTo>
                  <a:cubicBezTo>
                    <a:pt x="1435206" y="720859"/>
                    <a:pt x="1402766" y="753299"/>
                    <a:pt x="1362749" y="753299"/>
                  </a:cubicBezTo>
                  <a:lnTo>
                    <a:pt x="72457" y="753299"/>
                  </a:lnTo>
                  <a:cubicBezTo>
                    <a:pt x="53240" y="753299"/>
                    <a:pt x="34810" y="745666"/>
                    <a:pt x="21222" y="732077"/>
                  </a:cubicBezTo>
                  <a:cubicBezTo>
                    <a:pt x="7634" y="718489"/>
                    <a:pt x="0" y="700059"/>
                    <a:pt x="0" y="680843"/>
                  </a:cubicBezTo>
                  <a:lnTo>
                    <a:pt x="0" y="72457"/>
                  </a:lnTo>
                  <a:cubicBezTo>
                    <a:pt x="0" y="53240"/>
                    <a:pt x="7634" y="34810"/>
                    <a:pt x="21222" y="21222"/>
                  </a:cubicBezTo>
                  <a:cubicBezTo>
                    <a:pt x="34810" y="7634"/>
                    <a:pt x="53240" y="0"/>
                    <a:pt x="72457" y="0"/>
                  </a:cubicBezTo>
                  <a:close/>
                </a:path>
              </a:pathLst>
            </a:custGeom>
            <a:solidFill>
              <a:srgbClr val="DEBB7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435206" cy="819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99"/>
                </a:lnSpc>
              </a:pPr>
              <a:r>
                <a:rPr lang="en-US" sz="3499">
                  <a:solidFill>
                    <a:srgbClr val="FFFFFF"/>
                  </a:solidFill>
                  <a:latin typeface="Alice"/>
                  <a:ea typeface="Alice"/>
                  <a:cs typeface="Alice"/>
                  <a:sym typeface="Alice"/>
                </a:rPr>
                <a:t>T-02 </a:t>
              </a:r>
            </a:p>
            <a:p>
              <a:pPr algn="ctr">
                <a:lnSpc>
                  <a:spcPts val="4899"/>
                </a:lnSpc>
                <a:spcBef>
                  <a:spcPct val="0"/>
                </a:spcBef>
              </a:pPr>
              <a:r>
                <a:rPr lang="en-US" sz="3499">
                  <a:solidFill>
                    <a:srgbClr val="FFFFFF"/>
                  </a:solidFill>
                  <a:latin typeface="Alice"/>
                  <a:ea typeface="Alice"/>
                  <a:cs typeface="Alice"/>
                  <a:sym typeface="Alice"/>
                </a:rPr>
                <a:t>Consultar Mensagem aparece com nome, e-mail, assunto e texto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5598784"/>
            <a:ext cx="5449298" cy="2860184"/>
            <a:chOff x="0" y="0"/>
            <a:chExt cx="1435206" cy="7532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35206" cy="753299"/>
            </a:xfrm>
            <a:custGeom>
              <a:avLst/>
              <a:gdLst/>
              <a:ahLst/>
              <a:cxnLst/>
              <a:rect r="r" b="b" t="t" l="l"/>
              <a:pathLst>
                <a:path h="753299" w="1435206">
                  <a:moveTo>
                    <a:pt x="72457" y="0"/>
                  </a:moveTo>
                  <a:lnTo>
                    <a:pt x="1362749" y="0"/>
                  </a:lnTo>
                  <a:cubicBezTo>
                    <a:pt x="1381966" y="0"/>
                    <a:pt x="1400396" y="7634"/>
                    <a:pt x="1413984" y="21222"/>
                  </a:cubicBezTo>
                  <a:cubicBezTo>
                    <a:pt x="1427572" y="34810"/>
                    <a:pt x="1435206" y="53240"/>
                    <a:pt x="1435206" y="72457"/>
                  </a:cubicBezTo>
                  <a:lnTo>
                    <a:pt x="1435206" y="680843"/>
                  </a:lnTo>
                  <a:cubicBezTo>
                    <a:pt x="1435206" y="720859"/>
                    <a:pt x="1402766" y="753299"/>
                    <a:pt x="1362749" y="753299"/>
                  </a:cubicBezTo>
                  <a:lnTo>
                    <a:pt x="72457" y="753299"/>
                  </a:lnTo>
                  <a:cubicBezTo>
                    <a:pt x="53240" y="753299"/>
                    <a:pt x="34810" y="745666"/>
                    <a:pt x="21222" y="732077"/>
                  </a:cubicBezTo>
                  <a:cubicBezTo>
                    <a:pt x="7634" y="718489"/>
                    <a:pt x="0" y="700059"/>
                    <a:pt x="0" y="680843"/>
                  </a:cubicBezTo>
                  <a:lnTo>
                    <a:pt x="0" y="72457"/>
                  </a:lnTo>
                  <a:cubicBezTo>
                    <a:pt x="0" y="53240"/>
                    <a:pt x="7634" y="34810"/>
                    <a:pt x="21222" y="21222"/>
                  </a:cubicBezTo>
                  <a:cubicBezTo>
                    <a:pt x="34810" y="7634"/>
                    <a:pt x="53240" y="0"/>
                    <a:pt x="72457" y="0"/>
                  </a:cubicBezTo>
                  <a:close/>
                </a:path>
              </a:pathLst>
            </a:custGeom>
            <a:solidFill>
              <a:srgbClr val="DEBB7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435206" cy="819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99"/>
                </a:lnSpc>
              </a:pPr>
              <a:r>
                <a:rPr lang="en-US" sz="3499">
                  <a:solidFill>
                    <a:srgbClr val="FFFFFF"/>
                  </a:solidFill>
                  <a:latin typeface="Alice"/>
                  <a:ea typeface="Alice"/>
                  <a:cs typeface="Alice"/>
                  <a:sym typeface="Alice"/>
                </a:rPr>
                <a:t>T-03 </a:t>
              </a:r>
            </a:p>
            <a:p>
              <a:pPr algn="ctr">
                <a:lnSpc>
                  <a:spcPts val="4899"/>
                </a:lnSpc>
                <a:spcBef>
                  <a:spcPct val="0"/>
                </a:spcBef>
              </a:pPr>
              <a:r>
                <a:rPr lang="en-US" sz="3499">
                  <a:solidFill>
                    <a:srgbClr val="FFFFFF"/>
                  </a:solidFill>
                  <a:latin typeface="Alice"/>
                  <a:ea typeface="Alice"/>
                  <a:cs typeface="Alice"/>
                  <a:sym typeface="Alice"/>
                </a:rPr>
                <a:t>Atualizar Só o texto muda e a lista continua com 1 item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009635" y="5597372"/>
            <a:ext cx="5449298" cy="2860184"/>
            <a:chOff x="0" y="0"/>
            <a:chExt cx="1435206" cy="75329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35206" cy="753299"/>
            </a:xfrm>
            <a:custGeom>
              <a:avLst/>
              <a:gdLst/>
              <a:ahLst/>
              <a:cxnLst/>
              <a:rect r="r" b="b" t="t" l="l"/>
              <a:pathLst>
                <a:path h="753299" w="1435206">
                  <a:moveTo>
                    <a:pt x="72457" y="0"/>
                  </a:moveTo>
                  <a:lnTo>
                    <a:pt x="1362749" y="0"/>
                  </a:lnTo>
                  <a:cubicBezTo>
                    <a:pt x="1381966" y="0"/>
                    <a:pt x="1400396" y="7634"/>
                    <a:pt x="1413984" y="21222"/>
                  </a:cubicBezTo>
                  <a:cubicBezTo>
                    <a:pt x="1427572" y="34810"/>
                    <a:pt x="1435206" y="53240"/>
                    <a:pt x="1435206" y="72457"/>
                  </a:cubicBezTo>
                  <a:lnTo>
                    <a:pt x="1435206" y="680843"/>
                  </a:lnTo>
                  <a:cubicBezTo>
                    <a:pt x="1435206" y="720859"/>
                    <a:pt x="1402766" y="753299"/>
                    <a:pt x="1362749" y="753299"/>
                  </a:cubicBezTo>
                  <a:lnTo>
                    <a:pt x="72457" y="753299"/>
                  </a:lnTo>
                  <a:cubicBezTo>
                    <a:pt x="53240" y="753299"/>
                    <a:pt x="34810" y="745666"/>
                    <a:pt x="21222" y="732077"/>
                  </a:cubicBezTo>
                  <a:cubicBezTo>
                    <a:pt x="7634" y="718489"/>
                    <a:pt x="0" y="700059"/>
                    <a:pt x="0" y="680843"/>
                  </a:cubicBezTo>
                  <a:lnTo>
                    <a:pt x="0" y="72457"/>
                  </a:lnTo>
                  <a:cubicBezTo>
                    <a:pt x="0" y="53240"/>
                    <a:pt x="7634" y="34810"/>
                    <a:pt x="21222" y="21222"/>
                  </a:cubicBezTo>
                  <a:cubicBezTo>
                    <a:pt x="34810" y="7634"/>
                    <a:pt x="53240" y="0"/>
                    <a:pt x="72457" y="0"/>
                  </a:cubicBezTo>
                  <a:close/>
                </a:path>
              </a:pathLst>
            </a:custGeom>
            <a:solidFill>
              <a:srgbClr val="DEBB7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435206" cy="819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99"/>
                </a:lnSpc>
              </a:pPr>
              <a:r>
                <a:rPr lang="en-US" sz="3499">
                  <a:solidFill>
                    <a:srgbClr val="FFFFFF"/>
                  </a:solidFill>
                  <a:latin typeface="Alice"/>
                  <a:ea typeface="Alice"/>
                  <a:cs typeface="Alice"/>
                  <a:sym typeface="Alice"/>
                </a:rPr>
                <a:t>T-04 </a:t>
              </a:r>
            </a:p>
            <a:p>
              <a:pPr algn="ctr">
                <a:lnSpc>
                  <a:spcPts val="4899"/>
                </a:lnSpc>
                <a:spcBef>
                  <a:spcPct val="0"/>
                </a:spcBef>
              </a:pPr>
              <a:r>
                <a:rPr lang="en-US" sz="3499">
                  <a:solidFill>
                    <a:srgbClr val="FFFFFF"/>
                  </a:solidFill>
                  <a:latin typeface="Alice"/>
                  <a:ea typeface="Alice"/>
                  <a:cs typeface="Alice"/>
                  <a:sym typeface="Alice"/>
                </a:rPr>
                <a:t>Excluir Lista volta a 0 itens e mostra Nenhuma mensagem recebida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728714" y="2300450"/>
            <a:ext cx="4530586" cy="6143821"/>
            <a:chOff x="0" y="0"/>
            <a:chExt cx="1193241" cy="161812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93241" cy="1618126"/>
            </a:xfrm>
            <a:custGeom>
              <a:avLst/>
              <a:gdLst/>
              <a:ahLst/>
              <a:cxnLst/>
              <a:rect r="r" b="b" t="t" l="l"/>
              <a:pathLst>
                <a:path h="1618126" w="1193241">
                  <a:moveTo>
                    <a:pt x="87149" y="0"/>
                  </a:moveTo>
                  <a:lnTo>
                    <a:pt x="1106091" y="0"/>
                  </a:lnTo>
                  <a:cubicBezTo>
                    <a:pt x="1154223" y="0"/>
                    <a:pt x="1193241" y="39018"/>
                    <a:pt x="1193241" y="87149"/>
                  </a:cubicBezTo>
                  <a:lnTo>
                    <a:pt x="1193241" y="1530976"/>
                  </a:lnTo>
                  <a:cubicBezTo>
                    <a:pt x="1193241" y="1554090"/>
                    <a:pt x="1184059" y="1576257"/>
                    <a:pt x="1167715" y="1592600"/>
                  </a:cubicBezTo>
                  <a:cubicBezTo>
                    <a:pt x="1151372" y="1608944"/>
                    <a:pt x="1129205" y="1618126"/>
                    <a:pt x="1106091" y="1618126"/>
                  </a:cubicBezTo>
                  <a:lnTo>
                    <a:pt x="87149" y="1618126"/>
                  </a:lnTo>
                  <a:cubicBezTo>
                    <a:pt x="64036" y="1618126"/>
                    <a:pt x="41869" y="1608944"/>
                    <a:pt x="25525" y="1592600"/>
                  </a:cubicBezTo>
                  <a:cubicBezTo>
                    <a:pt x="9182" y="1576257"/>
                    <a:pt x="0" y="1554090"/>
                    <a:pt x="0" y="1530976"/>
                  </a:cubicBezTo>
                  <a:lnTo>
                    <a:pt x="0" y="87149"/>
                  </a:lnTo>
                  <a:cubicBezTo>
                    <a:pt x="0" y="64036"/>
                    <a:pt x="9182" y="41869"/>
                    <a:pt x="25525" y="25525"/>
                  </a:cubicBezTo>
                  <a:cubicBezTo>
                    <a:pt x="41869" y="9182"/>
                    <a:pt x="64036" y="0"/>
                    <a:pt x="87149" y="0"/>
                  </a:cubicBezTo>
                  <a:close/>
                </a:path>
              </a:pathLst>
            </a:custGeom>
            <a:solidFill>
              <a:srgbClr val="143C6B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1193241" cy="16848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99"/>
                </a:lnSpc>
              </a:pPr>
              <a:r>
                <a:rPr lang="en-US" sz="3499">
                  <a:solidFill>
                    <a:srgbClr val="FFFFFF"/>
                  </a:solidFill>
                  <a:latin typeface="Alice"/>
                  <a:ea typeface="Alice"/>
                  <a:cs typeface="Alice"/>
                  <a:sym typeface="Alice"/>
                </a:rPr>
                <a:t>  </a:t>
              </a:r>
              <a:r>
                <a:rPr lang="en-US" sz="3499">
                  <a:solidFill>
                    <a:srgbClr val="FFFFFF"/>
                  </a:solidFill>
                  <a:latin typeface="Alice Bold"/>
                  <a:ea typeface="Alice Bold"/>
                  <a:cs typeface="Alice Bold"/>
                  <a:sym typeface="Alice Bold"/>
                </a:rPr>
                <a:t>Ordem dos testes executados</a:t>
              </a:r>
            </a:p>
            <a:p>
              <a:pPr algn="ctr">
                <a:lnSpc>
                  <a:spcPts val="4899"/>
                </a:lnSpc>
              </a:pPr>
            </a:p>
            <a:p>
              <a:pPr algn="ctr">
                <a:lnSpc>
                  <a:spcPts val="4899"/>
                </a:lnSpc>
              </a:pPr>
              <a:r>
                <a:rPr lang="en-US" sz="3499">
                  <a:solidFill>
                    <a:srgbClr val="FFFFFF"/>
                  </a:solidFill>
                  <a:latin typeface="Alice"/>
                  <a:ea typeface="Alice"/>
                  <a:cs typeface="Alice"/>
                  <a:sym typeface="Alice"/>
                </a:rPr>
                <a:t>npx jest -t "T-01" </a:t>
              </a:r>
            </a:p>
            <a:p>
              <a:pPr algn="ctr">
                <a:lnSpc>
                  <a:spcPts val="4899"/>
                </a:lnSpc>
              </a:pPr>
              <a:r>
                <a:rPr lang="en-US" sz="3499">
                  <a:solidFill>
                    <a:srgbClr val="FFFFFF"/>
                  </a:solidFill>
                  <a:latin typeface="Alice"/>
                  <a:ea typeface="Alice"/>
                  <a:cs typeface="Alice"/>
                  <a:sym typeface="Alice"/>
                </a:rPr>
                <a:t>npx jest -t "T-02" </a:t>
              </a:r>
            </a:p>
            <a:p>
              <a:pPr algn="ctr">
                <a:lnSpc>
                  <a:spcPts val="4899"/>
                </a:lnSpc>
              </a:pPr>
              <a:r>
                <a:rPr lang="en-US" sz="3499">
                  <a:solidFill>
                    <a:srgbClr val="FFFFFF"/>
                  </a:solidFill>
                  <a:latin typeface="Alice"/>
                  <a:ea typeface="Alice"/>
                  <a:cs typeface="Alice"/>
                  <a:sym typeface="Alice"/>
                </a:rPr>
                <a:t>npx jest -t "T-03" </a:t>
              </a:r>
            </a:p>
            <a:p>
              <a:pPr algn="ctr">
                <a:lnSpc>
                  <a:spcPts val="4899"/>
                </a:lnSpc>
              </a:pPr>
              <a:r>
                <a:rPr lang="en-US" sz="3499">
                  <a:solidFill>
                    <a:srgbClr val="FFFFFF"/>
                  </a:solidFill>
                  <a:latin typeface="Alice"/>
                  <a:ea typeface="Alice"/>
                  <a:cs typeface="Alice"/>
                  <a:sym typeface="Alice"/>
                </a:rPr>
                <a:t>npx jest -t "T-04" </a:t>
              </a:r>
            </a:p>
            <a:p>
              <a:pPr algn="ctr">
                <a:lnSpc>
                  <a:spcPts val="4899"/>
                </a:lnSpc>
              </a:pPr>
              <a:r>
                <a:rPr lang="en-US" sz="3499">
                  <a:solidFill>
                    <a:srgbClr val="FFFFFF"/>
                  </a:solidFill>
                  <a:latin typeface="Alice"/>
                  <a:ea typeface="Alice"/>
                  <a:cs typeface="Alice"/>
                  <a:sym typeface="Alice"/>
                </a:rPr>
                <a:t>  npx jest 4 passed, </a:t>
              </a:r>
            </a:p>
            <a:p>
              <a:pPr algn="ctr">
                <a:lnSpc>
                  <a:spcPts val="4899"/>
                </a:lnSpc>
                <a:spcBef>
                  <a:spcPct val="0"/>
                </a:spcBef>
              </a:pPr>
              <a:r>
                <a:rPr lang="en-US" sz="3499">
                  <a:solidFill>
                    <a:srgbClr val="FFFFFF"/>
                  </a:solidFill>
                  <a:latin typeface="Alice"/>
                  <a:ea typeface="Alice"/>
                  <a:cs typeface="Alice"/>
                  <a:sym typeface="Alice"/>
                </a:rPr>
                <a:t>4 total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0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850589" y="-4180500"/>
            <a:ext cx="19138589" cy="15728440"/>
          </a:xfrm>
          <a:custGeom>
            <a:avLst/>
            <a:gdLst/>
            <a:ahLst/>
            <a:cxnLst/>
            <a:rect r="r" b="b" t="t" l="l"/>
            <a:pathLst>
              <a:path h="15728440" w="19138589">
                <a:moveTo>
                  <a:pt x="0" y="15728440"/>
                </a:moveTo>
                <a:lnTo>
                  <a:pt x="19138589" y="15728440"/>
                </a:lnTo>
                <a:lnTo>
                  <a:pt x="19138589" y="0"/>
                </a:lnTo>
                <a:lnTo>
                  <a:pt x="0" y="0"/>
                </a:lnTo>
                <a:lnTo>
                  <a:pt x="0" y="1572844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00315" y="7265675"/>
            <a:ext cx="7287370" cy="7287370"/>
          </a:xfrm>
          <a:custGeom>
            <a:avLst/>
            <a:gdLst/>
            <a:ahLst/>
            <a:cxnLst/>
            <a:rect r="r" b="b" t="t" l="l"/>
            <a:pathLst>
              <a:path h="7287370" w="7287370">
                <a:moveTo>
                  <a:pt x="0" y="0"/>
                </a:moveTo>
                <a:lnTo>
                  <a:pt x="7287370" y="0"/>
                </a:lnTo>
                <a:lnTo>
                  <a:pt x="7287370" y="7287370"/>
                </a:lnTo>
                <a:lnTo>
                  <a:pt x="0" y="72873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440668" y="3617707"/>
            <a:ext cx="13406663" cy="2537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35"/>
              </a:lnSpc>
            </a:pPr>
            <a:r>
              <a:rPr lang="en-US" sz="13311">
                <a:solidFill>
                  <a:srgbClr val="FFFFFF"/>
                </a:solidFill>
                <a:latin typeface="Hello Paris"/>
                <a:ea typeface="Hello Paris"/>
                <a:cs typeface="Hello Paris"/>
                <a:sym typeface="Hello Paris"/>
              </a:rPr>
              <a:t>Obrigada!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DAHWkvm5Tao</dc:identifier>
  <dcterms:modified xsi:type="dcterms:W3CDTF">2011-08-01T06:04:30Z</dcterms:modified>
  <cp:revision>1</cp:revision>
  <dc:title>Destrava Teste de Software </dc:title>
</cp:coreProperties>
</file>